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Cormorant Garamond"/>
      <p:bold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morantGaramond-bold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CormorantGaramond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80baded39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d80baded39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d6ca0e61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e7d6ca0e61_2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80baded39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d80baded39_2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7d6ca0e61_2_1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7d6ca0e61_2_1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7d6ca0e61_2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7d6ca0e61_2_10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7d6ca0e61_2_1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7d6ca0e61_2_13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7d6ca0e61_2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7d6ca0e61_2_14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80baded39_2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d80baded39_2_2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80baded39_2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80baded39_2_2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80baded39_2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80baded39_2_3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80baded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d80baded3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80baded3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d80baded39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80baded3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8-10 minutes</a:t>
            </a:r>
            <a:endParaRPr/>
          </a:p>
        </p:txBody>
      </p:sp>
      <p:sp>
        <p:nvSpPr>
          <p:cNvPr id="314" name="Google Shape;314;g3d80baded39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80baded3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d80baded39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9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image" Target="../media/image8.jp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19.jp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9.jp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rxiv.org/abs/2310.11511" TargetMode="External"/><Relationship Id="rId4" Type="http://schemas.openxmlformats.org/officeDocument/2006/relationships/hyperlink" Target="https://arxiv.org/abs/2004.04906" TargetMode="External"/><Relationship Id="rId10" Type="http://schemas.openxmlformats.org/officeDocument/2006/relationships/image" Target="../media/image3.png"/><Relationship Id="rId9" Type="http://schemas.openxmlformats.org/officeDocument/2006/relationships/hyperlink" Target="https://arxiv.org/abs/2603.10409" TargetMode="External"/><Relationship Id="rId5" Type="http://schemas.openxmlformats.org/officeDocument/2006/relationships/hyperlink" Target="https://arxiv.org/abs/2005.11401" TargetMode="External"/><Relationship Id="rId6" Type="http://schemas.openxmlformats.org/officeDocument/2006/relationships/hyperlink" Target="https://arxiv.org/abs/2404.14851" TargetMode="External"/><Relationship Id="rId7" Type="http://schemas.openxmlformats.org/officeDocument/2006/relationships/hyperlink" Target="https://arxiv.org/abs/2407.16833" TargetMode="External"/><Relationship Id="rId8" Type="http://schemas.openxmlformats.org/officeDocument/2006/relationships/hyperlink" Target="https://arxiv.org/abs/2202.06991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7924686" y="478842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>
            <a:off x="4180584" y="528953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5" y="0"/>
                </a:lnTo>
                <a:lnTo>
                  <a:pt x="1045375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3"/>
          <p:cNvSpPr txBox="1"/>
          <p:nvPr/>
        </p:nvSpPr>
        <p:spPr>
          <a:xfrm>
            <a:off x="704875" y="1330018"/>
            <a:ext cx="78039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600">
                <a:latin typeface="Cormorant Garamond"/>
                <a:ea typeface="Cormorant Garamond"/>
                <a:cs typeface="Cormorant Garamond"/>
                <a:sym typeface="Cormorant Garamond"/>
              </a:rPr>
              <a:t>LLM &amp; Search</a:t>
            </a:r>
            <a:endParaRPr sz="700"/>
          </a:p>
        </p:txBody>
      </p:sp>
      <p:sp>
        <p:nvSpPr>
          <p:cNvPr id="88" name="Google Shape;88;p13"/>
          <p:cNvSpPr txBox="1"/>
          <p:nvPr/>
        </p:nvSpPr>
        <p:spPr>
          <a:xfrm>
            <a:off x="2446825" y="2851475"/>
            <a:ext cx="4335300" cy="1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latin typeface="Inter"/>
                <a:ea typeface="Inter"/>
                <a:cs typeface="Inter"/>
                <a:sym typeface="Inter"/>
              </a:rPr>
              <a:t>Tsinghua University</a:t>
            </a:r>
            <a:endParaRPr b="1"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latin typeface="Inter"/>
                <a:ea typeface="Inter"/>
                <a:cs typeface="Inter"/>
                <a:sym typeface="Inter"/>
              </a:rPr>
              <a:t>Web Information Retrieval</a:t>
            </a:r>
            <a:endParaRPr b="1"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latin typeface="Inter"/>
                <a:ea typeface="Inter"/>
                <a:cs typeface="Inter"/>
                <a:sym typeface="Inter"/>
              </a:rPr>
              <a:t>Team 4</a:t>
            </a:r>
            <a:endParaRPr b="1"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Inter"/>
                <a:ea typeface="Inter"/>
                <a:cs typeface="Inter"/>
                <a:sym typeface="Inter"/>
              </a:rPr>
              <a:t>Mauricio S. Montes           </a:t>
            </a:r>
            <a:r>
              <a:rPr lang="es-419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2026480075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Inter"/>
                <a:ea typeface="Inter"/>
                <a:cs typeface="Inter"/>
                <a:sym typeface="Inter"/>
              </a:rPr>
              <a:t>Michelle A. Arceo             XXXXXXXXXX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Inter"/>
                <a:ea typeface="Inter"/>
                <a:cs typeface="Inter"/>
                <a:sym typeface="Inter"/>
              </a:rPr>
              <a:t>Ada J. Vargas                 2026480074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grpSp>
        <p:nvGrpSpPr>
          <p:cNvPr id="94" name="Google Shape;94;p14"/>
          <p:cNvGrpSpPr/>
          <p:nvPr/>
        </p:nvGrpSpPr>
        <p:grpSpPr>
          <a:xfrm>
            <a:off x="704850" y="1333500"/>
            <a:ext cx="114300" cy="3238500"/>
            <a:chOff x="704850" y="1333500"/>
            <a:chExt cx="114300" cy="3238500"/>
          </a:xfrm>
        </p:grpSpPr>
        <p:sp>
          <p:nvSpPr>
            <p:cNvPr id="95" name="Google Shape;95;p14"/>
            <p:cNvSpPr/>
            <p:nvPr/>
          </p:nvSpPr>
          <p:spPr>
            <a:xfrm>
              <a:off x="704850" y="1466850"/>
              <a:ext cx="114300" cy="114300"/>
            </a:xfrm>
            <a:prstGeom prst="ellipse">
              <a:avLst/>
            </a:prstGeom>
            <a:solidFill>
              <a:srgbClr val="9081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6" name="Google Shape;96;p14"/>
            <p:cNvCxnSpPr/>
            <p:nvPr/>
          </p:nvCxnSpPr>
          <p:spPr>
            <a:xfrm>
              <a:off x="762000" y="1333500"/>
              <a:ext cx="0" cy="32385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90816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" name="Google Shape;97;p14"/>
            <p:cNvSpPr/>
            <p:nvPr/>
          </p:nvSpPr>
          <p:spPr>
            <a:xfrm>
              <a:off x="704850" y="2895600"/>
              <a:ext cx="114300" cy="114300"/>
            </a:xfrm>
            <a:prstGeom prst="ellipse">
              <a:avLst/>
            </a:prstGeom>
            <a:solidFill>
              <a:srgbClr val="9081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4"/>
          <p:cNvSpPr txBox="1"/>
          <p:nvPr/>
        </p:nvSpPr>
        <p:spPr>
          <a:xfrm>
            <a:off x="762000" y="381000"/>
            <a:ext cx="7620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 brief history of “Finding”</a:t>
            </a:r>
            <a:endParaRPr b="1" sz="36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99" name="Google Shape;99;p14"/>
          <p:cNvSpPr/>
          <p:nvPr/>
        </p:nvSpPr>
        <p:spPr>
          <a:xfrm rot="10800000">
            <a:off x="7704007" y="462915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4"/>
          <p:cNvSpPr/>
          <p:nvPr/>
        </p:nvSpPr>
        <p:spPr>
          <a:xfrm>
            <a:off x="4180584" y="528953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5" y="0"/>
                </a:lnTo>
                <a:lnTo>
                  <a:pt x="1045375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4"/>
          <p:cNvSpPr/>
          <p:nvPr/>
        </p:nvSpPr>
        <p:spPr>
          <a:xfrm>
            <a:off x="610300" y="875650"/>
            <a:ext cx="522600" cy="3960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9081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704850" y="4324350"/>
            <a:ext cx="114300" cy="114300"/>
          </a:xfrm>
          <a:prstGeom prst="ellipse">
            <a:avLst/>
          </a:prstGeom>
          <a:solidFill>
            <a:srgbClr val="9081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5662613" y="1281113"/>
            <a:ext cx="3152700" cy="3152700"/>
            <a:chOff x="5662613" y="1281113"/>
            <a:chExt cx="3152700" cy="3152700"/>
          </a:xfrm>
        </p:grpSpPr>
        <p:pic>
          <p:nvPicPr>
            <p:cNvPr descr="A sophisticated, abstract visualization of a neural network or a digital eye, representing the evolution of machine intelligence and search, with clean lines and soft golden accents on a white background." id="104" name="Google Shape;104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715000" y="1333500"/>
              <a:ext cx="3048000" cy="30480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5" name="Google Shape;105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662613" y="1281113"/>
              <a:ext cx="3152700" cy="3152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4"/>
          <p:cNvSpPr txBox="1"/>
          <p:nvPr/>
        </p:nvSpPr>
        <p:spPr>
          <a:xfrm>
            <a:off x="228600" y="200025"/>
            <a:ext cx="1905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900">
                <a:solidFill>
                  <a:srgbClr val="90816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I. BACKGROUND &amp; CHALLENGES</a:t>
            </a:r>
            <a:endParaRPr b="0" sz="900">
              <a:solidFill>
                <a:srgbClr val="90816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047750" y="1095375"/>
            <a:ext cx="4286400" cy="9198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anchorCtr="0" anchor="t" bIns="142875" lIns="142875" spcFirstLastPara="1" rIns="142875" wrap="square" tIns="14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Lexical Era (BM25)</a:t>
            </a:r>
            <a:endParaRPr b="1" sz="14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Standard model for exact-match and named entities based on term frequency and document normalization.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047750" y="2333625"/>
            <a:ext cx="4286400" cy="9198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anchorCtr="0" anchor="t" bIns="142875" lIns="142875" spcFirstLastPara="1" rIns="142875" wrap="square" tIns="14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Semantic Era (Dense Retrieval)</a:t>
            </a:r>
            <a:endParaRPr b="1" sz="14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Bridges synonyms using latent vector space; shifts from token overlap to learned semantic geometry.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047750" y="3571875"/>
            <a:ext cx="4286400" cy="12858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anchorCtr="0" anchor="t" bIns="142875" lIns="142875" spcFirstLastPara="1" rIns="142875" wrap="square" tIns="14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Generative &amp; Agentic Era</a:t>
            </a:r>
            <a:endParaRPr b="1" sz="14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RAG grounds LLMs in evidence. Future systems act as agents, iterating until the information goal is reached.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375" y="4524375"/>
            <a:ext cx="95400" cy="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cxnSp>
        <p:nvCxnSpPr>
          <p:cNvPr id="116" name="Google Shape;116;p15"/>
          <p:cNvCxnSpPr/>
          <p:nvPr/>
        </p:nvCxnSpPr>
        <p:spPr>
          <a:xfrm>
            <a:off x="823679" y="1476743"/>
            <a:ext cx="1063500" cy="0"/>
          </a:xfrm>
          <a:prstGeom prst="straightConnector1">
            <a:avLst/>
          </a:prstGeom>
          <a:noFill/>
          <a:ln cap="flat" cmpd="sng" w="38100">
            <a:solidFill>
              <a:srgbClr val="9081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5"/>
          <p:cNvSpPr/>
          <p:nvPr/>
        </p:nvSpPr>
        <p:spPr>
          <a:xfrm>
            <a:off x="5649541" y="911875"/>
            <a:ext cx="2821371" cy="3513053"/>
          </a:xfrm>
          <a:custGeom>
            <a:rect b="b" l="l" r="r" t="t"/>
            <a:pathLst>
              <a:path extrusionOk="0" h="1088475" w="874166">
                <a:moveTo>
                  <a:pt x="31558" y="0"/>
                </a:moveTo>
                <a:lnTo>
                  <a:pt x="842608" y="0"/>
                </a:lnTo>
                <a:cubicBezTo>
                  <a:pt x="850978" y="0"/>
                  <a:pt x="859005" y="3325"/>
                  <a:pt x="864923" y="9243"/>
                </a:cubicBezTo>
                <a:cubicBezTo>
                  <a:pt x="870841" y="15161"/>
                  <a:pt x="874166" y="23188"/>
                  <a:pt x="874166" y="31558"/>
                </a:cubicBezTo>
                <a:lnTo>
                  <a:pt x="874166" y="1056917"/>
                </a:lnTo>
                <a:cubicBezTo>
                  <a:pt x="874166" y="1065287"/>
                  <a:pt x="870841" y="1073314"/>
                  <a:pt x="864923" y="1079232"/>
                </a:cubicBezTo>
                <a:cubicBezTo>
                  <a:pt x="859005" y="1085150"/>
                  <a:pt x="850978" y="1088475"/>
                  <a:pt x="842608" y="1088475"/>
                </a:cubicBezTo>
                <a:lnTo>
                  <a:pt x="31558" y="1088475"/>
                </a:lnTo>
                <a:cubicBezTo>
                  <a:pt x="23188" y="1088475"/>
                  <a:pt x="15161" y="1085150"/>
                  <a:pt x="9243" y="1079232"/>
                </a:cubicBezTo>
                <a:cubicBezTo>
                  <a:pt x="3325" y="1073314"/>
                  <a:pt x="0" y="1065287"/>
                  <a:pt x="0" y="1056917"/>
                </a:cubicBezTo>
                <a:lnTo>
                  <a:pt x="0" y="31558"/>
                </a:lnTo>
                <a:cubicBezTo>
                  <a:pt x="0" y="23188"/>
                  <a:pt x="3325" y="15161"/>
                  <a:pt x="9243" y="9243"/>
                </a:cubicBezTo>
                <a:cubicBezTo>
                  <a:pt x="15161" y="3325"/>
                  <a:pt x="23188" y="0"/>
                  <a:pt x="31558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6561" r="-51578" t="0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00017" y="1907292"/>
            <a:ext cx="190629" cy="190628"/>
          </a:xfrm>
          <a:custGeom>
            <a:rect b="b" l="l" r="r" t="t"/>
            <a:pathLst>
              <a:path extrusionOk="0" h="381257" w="381257">
                <a:moveTo>
                  <a:pt x="0" y="0"/>
                </a:moveTo>
                <a:lnTo>
                  <a:pt x="381257" y="0"/>
                </a:lnTo>
                <a:lnTo>
                  <a:pt x="381257" y="381257"/>
                </a:lnTo>
                <a:lnTo>
                  <a:pt x="0" y="38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5"/>
          <p:cNvSpPr/>
          <p:nvPr/>
        </p:nvSpPr>
        <p:spPr>
          <a:xfrm>
            <a:off x="3038999" y="1907292"/>
            <a:ext cx="190628" cy="190628"/>
          </a:xfrm>
          <a:custGeom>
            <a:rect b="b" l="l" r="r" t="t"/>
            <a:pathLst>
              <a:path extrusionOk="0" h="381257" w="381257">
                <a:moveTo>
                  <a:pt x="0" y="0"/>
                </a:moveTo>
                <a:lnTo>
                  <a:pt x="381257" y="0"/>
                </a:lnTo>
                <a:lnTo>
                  <a:pt x="381257" y="381257"/>
                </a:lnTo>
                <a:lnTo>
                  <a:pt x="0" y="38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15"/>
          <p:cNvSpPr/>
          <p:nvPr/>
        </p:nvSpPr>
        <p:spPr>
          <a:xfrm>
            <a:off x="3038999" y="3058895"/>
            <a:ext cx="190628" cy="190628"/>
          </a:xfrm>
          <a:custGeom>
            <a:rect b="b" l="l" r="r" t="t"/>
            <a:pathLst>
              <a:path extrusionOk="0" h="381257" w="381257">
                <a:moveTo>
                  <a:pt x="0" y="0"/>
                </a:moveTo>
                <a:lnTo>
                  <a:pt x="381257" y="0"/>
                </a:lnTo>
                <a:lnTo>
                  <a:pt x="381257" y="381257"/>
                </a:lnTo>
                <a:lnTo>
                  <a:pt x="0" y="38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15"/>
          <p:cNvSpPr/>
          <p:nvPr/>
        </p:nvSpPr>
        <p:spPr>
          <a:xfrm>
            <a:off x="700017" y="3058895"/>
            <a:ext cx="190629" cy="190628"/>
          </a:xfrm>
          <a:custGeom>
            <a:rect b="b" l="l" r="r" t="t"/>
            <a:pathLst>
              <a:path extrusionOk="0" h="381257" w="381257">
                <a:moveTo>
                  <a:pt x="0" y="0"/>
                </a:moveTo>
                <a:lnTo>
                  <a:pt x="381257" y="0"/>
                </a:lnTo>
                <a:lnTo>
                  <a:pt x="381257" y="381257"/>
                </a:lnTo>
                <a:lnTo>
                  <a:pt x="0" y="381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5"/>
          <p:cNvSpPr txBox="1"/>
          <p:nvPr/>
        </p:nvSpPr>
        <p:spPr>
          <a:xfrm>
            <a:off x="794676" y="892250"/>
            <a:ext cx="37098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But…at what cost?</a:t>
            </a:r>
            <a:endParaRPr b="1" sz="33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23" name="Google Shape;123;p15"/>
          <p:cNvSpPr/>
          <p:nvPr/>
        </p:nvSpPr>
        <p:spPr>
          <a:xfrm rot="10800000">
            <a:off x="7704007" y="462915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5"/>
          <p:cNvSpPr/>
          <p:nvPr/>
        </p:nvSpPr>
        <p:spPr>
          <a:xfrm>
            <a:off x="4437117" y="1027662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5" y="0"/>
                </a:lnTo>
                <a:lnTo>
                  <a:pt x="1045375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15"/>
          <p:cNvSpPr txBox="1"/>
          <p:nvPr/>
        </p:nvSpPr>
        <p:spPr>
          <a:xfrm>
            <a:off x="236675" y="205850"/>
            <a:ext cx="170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I. Background &amp; Challenges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88381" y="3077842"/>
            <a:ext cx="15576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Latency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988371" y="1926250"/>
            <a:ext cx="21516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Grounding Failure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228600" y="4762500"/>
            <a:ext cx="868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90816A"/>
                </a:solidFill>
                <a:latin typeface="Inter"/>
                <a:ea typeface="Inter"/>
                <a:cs typeface="Inter"/>
                <a:sym typeface="Inter"/>
              </a:rPr>
              <a:t>[3] Mauricio Montes. (2026). LLM and Search: From Lexical Retrieval to Agentic Information Retrieval. Tsinghua University Technical Report.</a:t>
            </a:r>
            <a:endParaRPr sz="800">
              <a:solidFill>
                <a:srgbClr val="90816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3329645" y="1926241"/>
            <a:ext cx="21516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Operational Bottlenecks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335893" y="3077851"/>
            <a:ext cx="21516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Parametric Staleness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700018" y="2246719"/>
            <a:ext cx="2151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Hallucinations persist even with retrieval; outputs must be verified for faithfulness and support.</a:t>
            </a:r>
            <a:endParaRPr b="0" sz="10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3038999" y="2246719"/>
            <a:ext cx="21516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92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Scaling dual encoders or rerankers involves critical trade-offs in throughput, GPU demand, and token costs.</a:t>
            </a:r>
            <a:endParaRPr b="0" sz="925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700018" y="3398320"/>
            <a:ext cx="21516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92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Recursive multi-stage pipelines (rewrite-retrieve-rerank) introduce non-trivial latency in production systems.</a:t>
            </a:r>
            <a:endParaRPr b="0" sz="925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3038999" y="3398320"/>
            <a:ext cx="2151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Parametric memory is static at training; RAG is required to mitigate copyright and bias grounding risks.</a:t>
            </a:r>
            <a:endParaRPr b="0" sz="10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sp>
        <p:nvSpPr>
          <p:cNvPr id="140" name="Google Shape;140;p16"/>
          <p:cNvSpPr txBox="1"/>
          <p:nvPr/>
        </p:nvSpPr>
        <p:spPr>
          <a:xfrm>
            <a:off x="1413220" y="892254"/>
            <a:ext cx="6317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419" sz="33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The Pillars of Modern IR</a:t>
            </a:r>
            <a:endParaRPr sz="700"/>
          </a:p>
        </p:txBody>
      </p:sp>
      <p:cxnSp>
        <p:nvCxnSpPr>
          <p:cNvPr id="141" name="Google Shape;141;p16"/>
          <p:cNvCxnSpPr/>
          <p:nvPr/>
        </p:nvCxnSpPr>
        <p:spPr>
          <a:xfrm>
            <a:off x="3957148" y="1997160"/>
            <a:ext cx="1063500" cy="0"/>
          </a:xfrm>
          <a:prstGeom prst="straightConnector1">
            <a:avLst/>
          </a:prstGeom>
          <a:noFill/>
          <a:ln cap="flat" cmpd="sng" w="38100">
            <a:solidFill>
              <a:srgbClr val="9081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16"/>
          <p:cNvSpPr txBox="1"/>
          <p:nvPr/>
        </p:nvSpPr>
        <p:spPr>
          <a:xfrm>
            <a:off x="1404038" y="1634200"/>
            <a:ext cx="6315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Modern Information Retrieval (IR) has transitioned from static ranking to a multi-paradigm landscape where LLMs intervene in query rewriting, retrieval, and synthesis to optimize for task utility.</a:t>
            </a:r>
            <a:endParaRPr b="0"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163825" y="3181921"/>
            <a:ext cx="15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Inter"/>
                <a:ea typeface="Inter"/>
                <a:cs typeface="Inter"/>
                <a:sym typeface="Inter"/>
              </a:rPr>
              <a:t>Dense Retrieval</a:t>
            </a:r>
            <a:endParaRPr sz="700"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834635" y="2807726"/>
            <a:ext cx="2418177" cy="1543020"/>
            <a:chOff x="-98399" y="298923"/>
            <a:chExt cx="1273797" cy="812800"/>
          </a:xfrm>
        </p:grpSpPr>
        <p:sp>
          <p:nvSpPr>
            <p:cNvPr id="145" name="Google Shape;145;p16"/>
            <p:cNvSpPr/>
            <p:nvPr/>
          </p:nvSpPr>
          <p:spPr>
            <a:xfrm>
              <a:off x="-98399" y="298923"/>
              <a:ext cx="1175443" cy="812800"/>
            </a:xfrm>
            <a:custGeom>
              <a:rect b="b" l="l" r="r" t="t"/>
              <a:pathLst>
                <a:path extrusionOk="0" h="812800" w="1175443">
                  <a:moveTo>
                    <a:pt x="64183" y="0"/>
                  </a:moveTo>
                  <a:lnTo>
                    <a:pt x="1111259" y="0"/>
                  </a:lnTo>
                  <a:cubicBezTo>
                    <a:pt x="1128282" y="0"/>
                    <a:pt x="1144607" y="6762"/>
                    <a:pt x="1156644" y="18799"/>
                  </a:cubicBezTo>
                  <a:cubicBezTo>
                    <a:pt x="1168681" y="30836"/>
                    <a:pt x="1175443" y="47161"/>
                    <a:pt x="1175443" y="64183"/>
                  </a:cubicBezTo>
                  <a:lnTo>
                    <a:pt x="1175443" y="748617"/>
                  </a:lnTo>
                  <a:cubicBezTo>
                    <a:pt x="1175443" y="765639"/>
                    <a:pt x="1168681" y="781964"/>
                    <a:pt x="1156644" y="794001"/>
                  </a:cubicBezTo>
                  <a:cubicBezTo>
                    <a:pt x="1144607" y="806038"/>
                    <a:pt x="1128282" y="812800"/>
                    <a:pt x="1111259" y="812800"/>
                  </a:cubicBezTo>
                  <a:lnTo>
                    <a:pt x="64183" y="812800"/>
                  </a:lnTo>
                  <a:cubicBezTo>
                    <a:pt x="47161" y="812800"/>
                    <a:pt x="30836" y="806038"/>
                    <a:pt x="18799" y="794001"/>
                  </a:cubicBezTo>
                  <a:cubicBezTo>
                    <a:pt x="6762" y="781964"/>
                    <a:pt x="0" y="765639"/>
                    <a:pt x="0" y="748617"/>
                  </a:cubicBezTo>
                  <a:lnTo>
                    <a:pt x="0" y="64183"/>
                  </a:lnTo>
                  <a:cubicBezTo>
                    <a:pt x="0" y="47161"/>
                    <a:pt x="6762" y="30836"/>
                    <a:pt x="18799" y="18799"/>
                  </a:cubicBezTo>
                  <a:cubicBezTo>
                    <a:pt x="30836" y="6762"/>
                    <a:pt x="47161" y="0"/>
                    <a:pt x="64183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363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-1" y="340840"/>
              <a:ext cx="1175400" cy="4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6"/>
          <p:cNvGrpSpPr/>
          <p:nvPr/>
        </p:nvGrpSpPr>
        <p:grpSpPr>
          <a:xfrm>
            <a:off x="6083966" y="2776689"/>
            <a:ext cx="2231461" cy="1543114"/>
            <a:chOff x="0" y="0"/>
            <a:chExt cx="1175443" cy="812850"/>
          </a:xfrm>
        </p:grpSpPr>
        <p:sp>
          <p:nvSpPr>
            <p:cNvPr id="148" name="Google Shape;148;p16"/>
            <p:cNvSpPr/>
            <p:nvPr/>
          </p:nvSpPr>
          <p:spPr>
            <a:xfrm>
              <a:off x="0" y="0"/>
              <a:ext cx="1175443" cy="812800"/>
            </a:xfrm>
            <a:custGeom>
              <a:rect b="b" l="l" r="r" t="t"/>
              <a:pathLst>
                <a:path extrusionOk="0" h="812800" w="1175443">
                  <a:moveTo>
                    <a:pt x="64183" y="0"/>
                  </a:moveTo>
                  <a:lnTo>
                    <a:pt x="1111259" y="0"/>
                  </a:lnTo>
                  <a:cubicBezTo>
                    <a:pt x="1128282" y="0"/>
                    <a:pt x="1144607" y="6762"/>
                    <a:pt x="1156644" y="18799"/>
                  </a:cubicBezTo>
                  <a:cubicBezTo>
                    <a:pt x="1168681" y="30836"/>
                    <a:pt x="1175443" y="47161"/>
                    <a:pt x="1175443" y="64183"/>
                  </a:cubicBezTo>
                  <a:lnTo>
                    <a:pt x="1175443" y="748617"/>
                  </a:lnTo>
                  <a:cubicBezTo>
                    <a:pt x="1175443" y="765639"/>
                    <a:pt x="1168681" y="781964"/>
                    <a:pt x="1156644" y="794001"/>
                  </a:cubicBezTo>
                  <a:cubicBezTo>
                    <a:pt x="1144607" y="806038"/>
                    <a:pt x="1128282" y="812800"/>
                    <a:pt x="1111259" y="812800"/>
                  </a:cubicBezTo>
                  <a:lnTo>
                    <a:pt x="64183" y="812800"/>
                  </a:lnTo>
                  <a:cubicBezTo>
                    <a:pt x="47161" y="812800"/>
                    <a:pt x="30836" y="806038"/>
                    <a:pt x="18799" y="794001"/>
                  </a:cubicBezTo>
                  <a:cubicBezTo>
                    <a:pt x="6762" y="781964"/>
                    <a:pt x="0" y="765639"/>
                    <a:pt x="0" y="748617"/>
                  </a:cubicBezTo>
                  <a:lnTo>
                    <a:pt x="0" y="64183"/>
                  </a:lnTo>
                  <a:cubicBezTo>
                    <a:pt x="0" y="47161"/>
                    <a:pt x="6762" y="30836"/>
                    <a:pt x="18799" y="18799"/>
                  </a:cubicBezTo>
                  <a:cubicBezTo>
                    <a:pt x="30836" y="6762"/>
                    <a:pt x="47161" y="0"/>
                    <a:pt x="64183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363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0" y="19050"/>
              <a:ext cx="11754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16"/>
          <p:cNvGrpSpPr/>
          <p:nvPr/>
        </p:nvGrpSpPr>
        <p:grpSpPr>
          <a:xfrm>
            <a:off x="3445822" y="2776689"/>
            <a:ext cx="2231461" cy="1543114"/>
            <a:chOff x="0" y="0"/>
            <a:chExt cx="1175443" cy="812850"/>
          </a:xfrm>
        </p:grpSpPr>
        <p:sp>
          <p:nvSpPr>
            <p:cNvPr id="151" name="Google Shape;151;p16"/>
            <p:cNvSpPr/>
            <p:nvPr/>
          </p:nvSpPr>
          <p:spPr>
            <a:xfrm>
              <a:off x="0" y="0"/>
              <a:ext cx="1175443" cy="812800"/>
            </a:xfrm>
            <a:custGeom>
              <a:rect b="b" l="l" r="r" t="t"/>
              <a:pathLst>
                <a:path extrusionOk="0" h="812800" w="1175443">
                  <a:moveTo>
                    <a:pt x="64183" y="0"/>
                  </a:moveTo>
                  <a:lnTo>
                    <a:pt x="1111259" y="0"/>
                  </a:lnTo>
                  <a:cubicBezTo>
                    <a:pt x="1128282" y="0"/>
                    <a:pt x="1144607" y="6762"/>
                    <a:pt x="1156644" y="18799"/>
                  </a:cubicBezTo>
                  <a:cubicBezTo>
                    <a:pt x="1168681" y="30836"/>
                    <a:pt x="1175443" y="47161"/>
                    <a:pt x="1175443" y="64183"/>
                  </a:cubicBezTo>
                  <a:lnTo>
                    <a:pt x="1175443" y="748617"/>
                  </a:lnTo>
                  <a:cubicBezTo>
                    <a:pt x="1175443" y="765639"/>
                    <a:pt x="1168681" y="781964"/>
                    <a:pt x="1156644" y="794001"/>
                  </a:cubicBezTo>
                  <a:cubicBezTo>
                    <a:pt x="1144607" y="806038"/>
                    <a:pt x="1128282" y="812800"/>
                    <a:pt x="1111259" y="812800"/>
                  </a:cubicBezTo>
                  <a:lnTo>
                    <a:pt x="64183" y="812800"/>
                  </a:lnTo>
                  <a:cubicBezTo>
                    <a:pt x="47161" y="812800"/>
                    <a:pt x="30836" y="806038"/>
                    <a:pt x="18799" y="794001"/>
                  </a:cubicBezTo>
                  <a:cubicBezTo>
                    <a:pt x="6762" y="781964"/>
                    <a:pt x="0" y="765639"/>
                    <a:pt x="0" y="748617"/>
                  </a:cubicBezTo>
                  <a:lnTo>
                    <a:pt x="0" y="64183"/>
                  </a:lnTo>
                  <a:cubicBezTo>
                    <a:pt x="0" y="47161"/>
                    <a:pt x="6762" y="30836"/>
                    <a:pt x="18799" y="18799"/>
                  </a:cubicBezTo>
                  <a:cubicBezTo>
                    <a:pt x="30836" y="6762"/>
                    <a:pt x="47161" y="0"/>
                    <a:pt x="64183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363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0" y="19050"/>
              <a:ext cx="11754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16"/>
          <p:cNvSpPr txBox="1"/>
          <p:nvPr/>
        </p:nvSpPr>
        <p:spPr>
          <a:xfrm>
            <a:off x="3793170" y="3181921"/>
            <a:ext cx="15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Inter"/>
                <a:ea typeface="Inter"/>
                <a:cs typeface="Inter"/>
                <a:sym typeface="Inter"/>
              </a:rPr>
              <a:t>RAG</a:t>
            </a:r>
            <a:endParaRPr sz="700"/>
          </a:p>
        </p:txBody>
      </p:sp>
      <p:sp>
        <p:nvSpPr>
          <p:cNvPr id="154" name="Google Shape;154;p16"/>
          <p:cNvSpPr txBox="1"/>
          <p:nvPr/>
        </p:nvSpPr>
        <p:spPr>
          <a:xfrm>
            <a:off x="6420889" y="3181921"/>
            <a:ext cx="15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Inter"/>
                <a:ea typeface="Inter"/>
                <a:cs typeface="Inter"/>
                <a:sym typeface="Inter"/>
              </a:rPr>
              <a:t>Generative Search</a:t>
            </a:r>
            <a:endParaRPr sz="700"/>
          </a:p>
        </p:txBody>
      </p:sp>
      <p:sp>
        <p:nvSpPr>
          <p:cNvPr id="155" name="Google Shape;155;p16"/>
          <p:cNvSpPr txBox="1"/>
          <p:nvPr/>
        </p:nvSpPr>
        <p:spPr>
          <a:xfrm>
            <a:off x="1015375" y="3502400"/>
            <a:ext cx="18546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Bridges the vocabulary mismatch by mapping queries and passages into a shared latent semantic vector space.</a:t>
            </a:r>
            <a:endParaRPr b="0" sz="10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3644722" y="3502400"/>
            <a:ext cx="18546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The default architecture for grounding generation in fresh, domain-specific evidence to mitigate parametric staleness.</a:t>
            </a:r>
            <a:endParaRPr b="0" sz="10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7" name="Google Shape;157;p16"/>
          <p:cNvGrpSpPr/>
          <p:nvPr/>
        </p:nvGrpSpPr>
        <p:grpSpPr>
          <a:xfrm>
            <a:off x="1725387" y="2615434"/>
            <a:ext cx="434523" cy="434523"/>
            <a:chOff x="0" y="0"/>
            <a:chExt cx="812800" cy="812800"/>
          </a:xfrm>
        </p:grpSpPr>
        <p:sp>
          <p:nvSpPr>
            <p:cNvPr id="158" name="Google Shape;158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6"/>
          <p:cNvSpPr txBox="1"/>
          <p:nvPr/>
        </p:nvSpPr>
        <p:spPr>
          <a:xfrm>
            <a:off x="6272432" y="3502400"/>
            <a:ext cx="1854600" cy="76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Attempts to internalize retrieval by mapping queries directly to document identifiers via differentiable search indices.</a:t>
            </a:r>
            <a:endParaRPr b="0" sz="10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1" name="Google Shape;161;p16"/>
          <p:cNvGrpSpPr/>
          <p:nvPr/>
        </p:nvGrpSpPr>
        <p:grpSpPr>
          <a:xfrm>
            <a:off x="4354732" y="2615434"/>
            <a:ext cx="434523" cy="434523"/>
            <a:chOff x="0" y="0"/>
            <a:chExt cx="812800" cy="812800"/>
          </a:xfrm>
        </p:grpSpPr>
        <p:sp>
          <p:nvSpPr>
            <p:cNvPr id="162" name="Google Shape;16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6"/>
          <p:cNvGrpSpPr/>
          <p:nvPr/>
        </p:nvGrpSpPr>
        <p:grpSpPr>
          <a:xfrm>
            <a:off x="6982451" y="2615434"/>
            <a:ext cx="434523" cy="434523"/>
            <a:chOff x="0" y="0"/>
            <a:chExt cx="812800" cy="812800"/>
          </a:xfrm>
        </p:grpSpPr>
        <p:sp>
          <p:nvSpPr>
            <p:cNvPr id="165" name="Google Shape;165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16"/>
          <p:cNvSpPr txBox="1"/>
          <p:nvPr/>
        </p:nvSpPr>
        <p:spPr>
          <a:xfrm>
            <a:off x="1796802" y="2756335"/>
            <a:ext cx="29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700"/>
          </a:p>
        </p:txBody>
      </p:sp>
      <p:sp>
        <p:nvSpPr>
          <p:cNvPr id="168" name="Google Shape;168;p16"/>
          <p:cNvSpPr txBox="1"/>
          <p:nvPr/>
        </p:nvSpPr>
        <p:spPr>
          <a:xfrm>
            <a:off x="4426147" y="2756335"/>
            <a:ext cx="29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700"/>
          </a:p>
        </p:txBody>
      </p:sp>
      <p:sp>
        <p:nvSpPr>
          <p:cNvPr id="169" name="Google Shape;169;p16"/>
          <p:cNvSpPr txBox="1"/>
          <p:nvPr/>
        </p:nvSpPr>
        <p:spPr>
          <a:xfrm>
            <a:off x="7053866" y="2756335"/>
            <a:ext cx="29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700"/>
          </a:p>
        </p:txBody>
      </p:sp>
      <p:sp>
        <p:nvSpPr>
          <p:cNvPr id="170" name="Google Shape;170;p16"/>
          <p:cNvSpPr/>
          <p:nvPr/>
        </p:nvSpPr>
        <p:spPr>
          <a:xfrm rot="10800000">
            <a:off x="7704007" y="462915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16"/>
          <p:cNvSpPr/>
          <p:nvPr/>
        </p:nvSpPr>
        <p:spPr>
          <a:xfrm>
            <a:off x="682182" y="1031647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6" y="0"/>
                </a:lnTo>
                <a:lnTo>
                  <a:pt x="1045376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6"/>
          <p:cNvSpPr txBox="1"/>
          <p:nvPr/>
        </p:nvSpPr>
        <p:spPr>
          <a:xfrm>
            <a:off x="236675" y="205850"/>
            <a:ext cx="170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II. Approaches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/>
        </p:nvSpPr>
        <p:spPr>
          <a:xfrm>
            <a:off x="1413224" y="892254"/>
            <a:ext cx="63177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Dense Retrieval (DPR)</a:t>
            </a:r>
            <a:endParaRPr b="1" sz="33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cxnSp>
        <p:nvCxnSpPr>
          <p:cNvPr id="178" name="Google Shape;178;p17"/>
          <p:cNvCxnSpPr/>
          <p:nvPr/>
        </p:nvCxnSpPr>
        <p:spPr>
          <a:xfrm rot="10800000">
            <a:off x="4572000" y="1333500"/>
            <a:ext cx="0" cy="9525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9081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7"/>
          <p:cNvSpPr txBox="1"/>
          <p:nvPr/>
        </p:nvSpPr>
        <p:spPr>
          <a:xfrm>
            <a:off x="952500" y="2857500"/>
            <a:ext cx="2857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Semantic Relevance</a:t>
            </a:r>
            <a:endParaRPr b="1" sz="14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4762500" y="1905000"/>
            <a:ext cx="3810000" cy="241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Mechanism:</a:t>
            </a: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Bridges vocabulary mismatch by mapping queries and passages into a shared latent semantic vector space via dual encoders.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Constraints: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Inter"/>
              <a:buChar char="●"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Sensitive to domain shift and training data quality.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Inter"/>
              <a:buChar char="●"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Can collapse critical lexical distinctions for exact-match queries.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Best-Use Scenarios: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Inter"/>
              <a:buChar char="●"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Paraphrase-heavy semantic search where intent is indirect.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Inter"/>
              <a:buChar char="●"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Open-domain QA requiring semantic understanding.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1" name="Google Shape;181;p17"/>
          <p:cNvGrpSpPr/>
          <p:nvPr/>
        </p:nvGrpSpPr>
        <p:grpSpPr>
          <a:xfrm>
            <a:off x="1489327" y="692869"/>
            <a:ext cx="906597" cy="906678"/>
            <a:chOff x="0" y="0"/>
            <a:chExt cx="812800" cy="812800"/>
          </a:xfrm>
        </p:grpSpPr>
        <p:sp>
          <p:nvSpPr>
            <p:cNvPr id="182" name="Google Shape;182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97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5400" lIns="95400" spcFirstLastPara="1" rIns="95400" wrap="square" tIns="9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7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000" lIns="53000" spcFirstLastPara="1" rIns="53000" wrap="square" tIns="530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7"/>
          <p:cNvSpPr txBox="1"/>
          <p:nvPr/>
        </p:nvSpPr>
        <p:spPr>
          <a:xfrm>
            <a:off x="1464576" y="938466"/>
            <a:ext cx="95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2200"/>
          </a:p>
        </p:txBody>
      </p:sp>
      <p:sp>
        <p:nvSpPr>
          <p:cNvPr id="185" name="Google Shape;185;p17"/>
          <p:cNvSpPr/>
          <p:nvPr/>
        </p:nvSpPr>
        <p:spPr>
          <a:xfrm rot="10800000">
            <a:off x="7704007" y="462915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7"/>
          <p:cNvSpPr/>
          <p:nvPr/>
        </p:nvSpPr>
        <p:spPr>
          <a:xfrm>
            <a:off x="682182" y="1031647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6" y="0"/>
                </a:lnTo>
                <a:lnTo>
                  <a:pt x="1045376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7"/>
          <p:cNvSpPr txBox="1"/>
          <p:nvPr/>
        </p:nvSpPr>
        <p:spPr>
          <a:xfrm>
            <a:off x="236675" y="205850"/>
            <a:ext cx="170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II. Approaches</a:t>
            </a:r>
            <a:endParaRPr/>
          </a:p>
        </p:txBody>
      </p:sp>
      <p:pic>
        <p:nvPicPr>
          <p:cNvPr descr="A high-tech, abstract visualization of a neural network mapping complex data points into a multidimensional vector space, glowing blue and gold connections on a dark background, professional academic style." id="188" name="Google Shape;188;p17"/>
          <p:cNvPicPr preferRelativeResize="0"/>
          <p:nvPr/>
        </p:nvPicPr>
        <p:blipFill rotWithShape="1">
          <a:blip r:embed="rId5">
            <a:alphaModFix/>
          </a:blip>
          <a:srcRect b="0" l="5253" r="5262" t="0"/>
          <a:stretch/>
        </p:blipFill>
        <p:spPr>
          <a:xfrm>
            <a:off x="952500" y="2286000"/>
            <a:ext cx="3333900" cy="2095500"/>
          </a:xfrm>
          <a:prstGeom prst="roundRect">
            <a:avLst>
              <a:gd fmla="val 5454" name="adj"/>
            </a:avLst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228600" y="4762500"/>
            <a:ext cx="868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800">
                <a:solidFill>
                  <a:srgbClr val="90816A"/>
                </a:solidFill>
                <a:latin typeface="Inter"/>
                <a:ea typeface="Inter"/>
                <a:cs typeface="Inter"/>
                <a:sym typeface="Inter"/>
              </a:rPr>
              <a:t>[3] Mauricio Montes. (2026). LLM and Search: From Lexical Retrieval to Agentic Information Retrieval. Tsinghua University Technical Report.</a:t>
            </a:r>
            <a:endParaRPr b="0" sz="800">
              <a:solidFill>
                <a:srgbClr val="90816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18"/>
          <p:cNvCxnSpPr/>
          <p:nvPr/>
        </p:nvCxnSpPr>
        <p:spPr>
          <a:xfrm rot="10800000">
            <a:off x="4576725" y="1281131"/>
            <a:ext cx="0" cy="10572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90816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p18"/>
          <p:cNvGrpSpPr/>
          <p:nvPr/>
        </p:nvGrpSpPr>
        <p:grpSpPr>
          <a:xfrm>
            <a:off x="1312677" y="654769"/>
            <a:ext cx="906597" cy="906678"/>
            <a:chOff x="0" y="0"/>
            <a:chExt cx="812800" cy="812800"/>
          </a:xfrm>
        </p:grpSpPr>
        <p:sp>
          <p:nvSpPr>
            <p:cNvPr id="196" name="Google Shape;196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97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5400" lIns="95400" spcFirstLastPara="1" rIns="95400" wrap="square" tIns="9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000" lIns="53000" spcFirstLastPara="1" rIns="53000" wrap="square" tIns="530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8"/>
          <p:cNvSpPr txBox="1"/>
          <p:nvPr/>
        </p:nvSpPr>
        <p:spPr>
          <a:xfrm>
            <a:off x="1287926" y="938453"/>
            <a:ext cx="95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s-419" sz="2700">
                <a:latin typeface="Inter"/>
                <a:ea typeface="Inter"/>
                <a:cs typeface="Inter"/>
                <a:sym typeface="Inter"/>
              </a:rPr>
              <a:t>2</a:t>
            </a:r>
            <a:endParaRPr sz="27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18"/>
          <p:cNvSpPr/>
          <p:nvPr/>
        </p:nvSpPr>
        <p:spPr>
          <a:xfrm rot="10800000">
            <a:off x="7704007" y="462915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8"/>
          <p:cNvSpPr/>
          <p:nvPr/>
        </p:nvSpPr>
        <p:spPr>
          <a:xfrm>
            <a:off x="682182" y="1031647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6" y="0"/>
                </a:lnTo>
                <a:lnTo>
                  <a:pt x="1045376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8"/>
          <p:cNvSpPr txBox="1"/>
          <p:nvPr/>
        </p:nvSpPr>
        <p:spPr>
          <a:xfrm>
            <a:off x="236675" y="205850"/>
            <a:ext cx="170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II. Approaches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4762500" y="1905000"/>
            <a:ext cx="39054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Mechanism:</a:t>
            </a: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Retrieves external evidence at inference time to condition the LLM, grounding answers in up-to-date or domain-specific content.</a:t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Constraints:</a:t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Inter"/>
              <a:buChar char="●"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Retrieval Failure: If the retriever misses evidence, the generator cannot recover.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Inter"/>
              <a:buChar char="●"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Faithfulness: Models may ignore retrieved context or generate plausible but unsupported text.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Best-Use Scenarios:</a:t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Inter"/>
              <a:buChar char="●"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Grounding generation in fresh or private data to mitigate parametric staleness.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Inter"/>
              <a:buChar char="●"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Enterprise assistants requiring transparency and citations.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 professional technical diagram showing a circular information flow: a query goes to a document database, relevant chunks are retrieved, and then combined with the query into an LLM which outputs a grounded answer, clean corporate aesthetic, soft blues and grays." id="203" name="Google Shape;203;p18"/>
          <p:cNvPicPr preferRelativeResize="0"/>
          <p:nvPr/>
        </p:nvPicPr>
        <p:blipFill rotWithShape="1">
          <a:blip r:embed="rId5">
            <a:alphaModFix/>
          </a:blip>
          <a:srcRect b="0" l="5468" r="5468" t="0"/>
          <a:stretch/>
        </p:blipFill>
        <p:spPr>
          <a:xfrm>
            <a:off x="762000" y="2095500"/>
            <a:ext cx="3619500" cy="22860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sp>
        <p:nvSpPr>
          <p:cNvPr id="204" name="Google Shape;204;p18"/>
          <p:cNvSpPr txBox="1"/>
          <p:nvPr/>
        </p:nvSpPr>
        <p:spPr>
          <a:xfrm>
            <a:off x="228600" y="4810125"/>
            <a:ext cx="868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800">
                <a:solidFill>
                  <a:srgbClr val="90816A"/>
                </a:solidFill>
                <a:latin typeface="Inter"/>
                <a:ea typeface="Inter"/>
                <a:cs typeface="Inter"/>
                <a:sym typeface="Inter"/>
              </a:rPr>
              <a:t>[3] Mauricio Montes. (2026). LLM and Search: From Lexical Retrieval to Agentic Information Retrieval. Tsinghua University Technical Report.</a:t>
            </a:r>
            <a:endParaRPr b="0" sz="800">
              <a:solidFill>
                <a:srgbClr val="90816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2175175" y="892250"/>
            <a:ext cx="6192900" cy="43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5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Retrieval-Augmented Generation (RAG)</a:t>
            </a:r>
            <a:endParaRPr b="1" sz="2805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19"/>
          <p:cNvCxnSpPr/>
          <p:nvPr/>
        </p:nvCxnSpPr>
        <p:spPr>
          <a:xfrm>
            <a:off x="4040273" y="1705997"/>
            <a:ext cx="1063500" cy="0"/>
          </a:xfrm>
          <a:prstGeom prst="straightConnector1">
            <a:avLst/>
          </a:prstGeom>
          <a:noFill/>
          <a:ln cap="flat" cmpd="sng" w="38100">
            <a:solidFill>
              <a:srgbClr val="90816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1" name="Google Shape;211;p19"/>
          <p:cNvGrpSpPr/>
          <p:nvPr/>
        </p:nvGrpSpPr>
        <p:grpSpPr>
          <a:xfrm>
            <a:off x="1489327" y="692869"/>
            <a:ext cx="906597" cy="906678"/>
            <a:chOff x="0" y="0"/>
            <a:chExt cx="812800" cy="812800"/>
          </a:xfrm>
        </p:grpSpPr>
        <p:sp>
          <p:nvSpPr>
            <p:cNvPr id="212" name="Google Shape;212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97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5400" lIns="95400" spcFirstLastPara="1" rIns="95400" wrap="square" tIns="9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000" lIns="53000" spcFirstLastPara="1" rIns="53000" wrap="square" tIns="530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9"/>
          <p:cNvSpPr txBox="1"/>
          <p:nvPr/>
        </p:nvSpPr>
        <p:spPr>
          <a:xfrm>
            <a:off x="1464576" y="938466"/>
            <a:ext cx="95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s-419" sz="2700">
                <a:latin typeface="Inter"/>
                <a:ea typeface="Inter"/>
                <a:cs typeface="Inter"/>
                <a:sym typeface="Inter"/>
              </a:rPr>
              <a:t>3</a:t>
            </a:r>
            <a:endParaRPr sz="2200"/>
          </a:p>
        </p:txBody>
      </p:sp>
      <p:sp>
        <p:nvSpPr>
          <p:cNvPr id="215" name="Google Shape;215;p19"/>
          <p:cNvSpPr/>
          <p:nvPr/>
        </p:nvSpPr>
        <p:spPr>
          <a:xfrm rot="10800000">
            <a:off x="7704007" y="462915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9"/>
          <p:cNvSpPr/>
          <p:nvPr/>
        </p:nvSpPr>
        <p:spPr>
          <a:xfrm>
            <a:off x="682182" y="1031647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6" y="0"/>
                </a:lnTo>
                <a:lnTo>
                  <a:pt x="1045376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9"/>
          <p:cNvSpPr txBox="1"/>
          <p:nvPr/>
        </p:nvSpPr>
        <p:spPr>
          <a:xfrm>
            <a:off x="236675" y="205850"/>
            <a:ext cx="170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II. Approaches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4762500" y="1905000"/>
            <a:ext cx="39054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18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Mechanism:</a:t>
            </a:r>
            <a:r>
              <a:rPr b="0" lang="es-419" sz="1018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Maps queries directly to document identifiers (IDs) within the model parameters, internalizing the index and bypassing traditional discrete lookup.</a:t>
            </a:r>
            <a:endParaRPr b="1" sz="1018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018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Constraints:</a:t>
            </a:r>
            <a:endParaRPr b="1" sz="1018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3211" lvl="0" marL="457200" rtl="0" algn="l">
              <a:spcBef>
                <a:spcPts val="300"/>
              </a:spcBef>
              <a:spcAft>
                <a:spcPts val="0"/>
              </a:spcAft>
              <a:buClr>
                <a:srgbClr val="4A4A4A"/>
              </a:buClr>
              <a:buSzPts val="1018"/>
              <a:buFont typeface="Inter"/>
              <a:buChar char="●"/>
            </a:pPr>
            <a:r>
              <a:rPr b="0" lang="es-419" sz="1018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Updateability: Knowledge is entangled in weights; updating for new data requires retraining or fine-tuning.</a:t>
            </a:r>
            <a:endParaRPr b="0" sz="1018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3211" lvl="0" marL="45720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018"/>
              <a:buFont typeface="Inter"/>
              <a:buChar char="●"/>
            </a:pPr>
            <a:r>
              <a:rPr b="0" lang="es-419" sz="1018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Scalability: Struggles to scale cleanly to massive, dynamic corpora compared to RAG.</a:t>
            </a:r>
            <a:endParaRPr b="0" sz="1018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018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Best-Use Scenarios:</a:t>
            </a:r>
            <a:endParaRPr b="1" sz="1018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3211" lvl="0" marL="457200" rtl="0" algn="l">
              <a:spcBef>
                <a:spcPts val="300"/>
              </a:spcBef>
              <a:spcAft>
                <a:spcPts val="0"/>
              </a:spcAft>
              <a:buClr>
                <a:srgbClr val="4A4A4A"/>
              </a:buClr>
              <a:buSzPts val="1018"/>
              <a:buFont typeface="Inter"/>
              <a:buChar char="●"/>
            </a:pPr>
            <a:r>
              <a:rPr b="0" lang="es-419" sz="1018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Unified end-to-end retrieval research and specialized small-scale corpora.</a:t>
            </a:r>
            <a:endParaRPr b="0" sz="1018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3211" lvl="0" marL="457200" rtl="0" algn="l"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018"/>
              <a:buFont typeface="Inter"/>
              <a:buChar char="●"/>
            </a:pPr>
            <a:r>
              <a:rPr b="0" lang="es-419" sz="1018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Simplified architectures where a traditional external index is undesirable.</a:t>
            </a:r>
            <a:endParaRPr b="0" sz="1018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 high-tech conceptual diagram showing a neural network brain where a query enters and a document ID emerges directly from the synapses, glowing digital connections, clean corporate aesthetic, soft blues and grays." id="219" name="Google Shape;219;p19"/>
          <p:cNvPicPr preferRelativeResize="0"/>
          <p:nvPr/>
        </p:nvPicPr>
        <p:blipFill rotWithShape="1">
          <a:blip r:embed="rId5">
            <a:alphaModFix/>
          </a:blip>
          <a:srcRect b="0" l="5468" r="5468" t="0"/>
          <a:stretch/>
        </p:blipFill>
        <p:spPr>
          <a:xfrm>
            <a:off x="762000" y="2095500"/>
            <a:ext cx="3619500" cy="22860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228600" y="4810125"/>
            <a:ext cx="868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800">
                <a:solidFill>
                  <a:srgbClr val="90816A"/>
                </a:solidFill>
                <a:latin typeface="Inter"/>
                <a:ea typeface="Inter"/>
                <a:cs typeface="Inter"/>
                <a:sym typeface="Inter"/>
              </a:rPr>
              <a:t>[3] Mauricio Montes. (2026). LLM and Search: From Lexical Retrieval to Agentic Information Retrieval. Tsinghua University Technical Report.</a:t>
            </a:r>
            <a:endParaRPr b="0" sz="800">
              <a:solidFill>
                <a:srgbClr val="90816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2483499" y="938479"/>
            <a:ext cx="6317700" cy="43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5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Generative Information Retrieval (GenIR)</a:t>
            </a:r>
            <a:endParaRPr b="1" sz="2805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cxnSp>
        <p:nvCxnSpPr>
          <p:cNvPr id="227" name="Google Shape;227;p20"/>
          <p:cNvCxnSpPr/>
          <p:nvPr/>
        </p:nvCxnSpPr>
        <p:spPr>
          <a:xfrm>
            <a:off x="5923578" y="1442353"/>
            <a:ext cx="1063500" cy="0"/>
          </a:xfrm>
          <a:prstGeom prst="straightConnector1">
            <a:avLst/>
          </a:prstGeom>
          <a:noFill/>
          <a:ln cap="flat" cmpd="sng" w="38100">
            <a:solidFill>
              <a:srgbClr val="9081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20"/>
          <p:cNvSpPr txBox="1"/>
          <p:nvPr/>
        </p:nvSpPr>
        <p:spPr>
          <a:xfrm>
            <a:off x="5894567" y="892254"/>
            <a:ext cx="2317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300" u="none" cap="none" strike="noStrike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What’s </a:t>
            </a:r>
            <a:r>
              <a:rPr b="1" lang="es-419" sz="3300">
                <a:latin typeface="Cormorant Garamond"/>
                <a:ea typeface="Cormorant Garamond"/>
                <a:cs typeface="Cormorant Garamond"/>
                <a:sym typeface="Cormorant Garamond"/>
              </a:rPr>
              <a:t>n</a:t>
            </a:r>
            <a:r>
              <a:rPr b="1" i="0" lang="es-419" sz="3300" u="none" cap="none" strike="noStrike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ext ?</a:t>
            </a:r>
            <a:endParaRPr sz="700"/>
          </a:p>
        </p:txBody>
      </p:sp>
      <p:pic>
        <p:nvPicPr>
          <p:cNvPr descr="A high-tech, futuristic conceptual visualization of a global information neural network with glowing nodes and data streams connecting in a semi-transparent, clean corporate style with soft blues and grays." id="229" name="Google Shape;229;p20"/>
          <p:cNvPicPr preferRelativeResize="0"/>
          <p:nvPr/>
        </p:nvPicPr>
        <p:blipFill rotWithShape="1">
          <a:blip r:embed="rId4">
            <a:alphaModFix/>
          </a:blip>
          <a:srcRect b="11931" l="0" r="0" t="11931"/>
          <a:stretch/>
        </p:blipFill>
        <p:spPr>
          <a:xfrm>
            <a:off x="790575" y="2381250"/>
            <a:ext cx="4448100" cy="1905000"/>
          </a:xfrm>
          <a:prstGeom prst="roundRect">
            <a:avLst>
              <a:gd fmla="val 6000" name="adj"/>
            </a:avLst>
          </a:prstGeom>
          <a:noFill/>
          <a:ln>
            <a:noFill/>
          </a:ln>
        </p:spPr>
      </p:pic>
      <p:sp>
        <p:nvSpPr>
          <p:cNvPr id="230" name="Google Shape;230;p20"/>
          <p:cNvSpPr/>
          <p:nvPr/>
        </p:nvSpPr>
        <p:spPr>
          <a:xfrm rot="10800000">
            <a:off x="7704007" y="462915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20"/>
          <p:cNvSpPr txBox="1"/>
          <p:nvPr/>
        </p:nvSpPr>
        <p:spPr>
          <a:xfrm>
            <a:off x="236675" y="205850"/>
            <a:ext cx="170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III. Future Directions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5886450" y="1524000"/>
            <a:ext cx="2733600" cy="6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Beyond simple RAG, the next frontier focuses on task completion rather than document access, using iterative reasoning loops.</a:t>
            </a:r>
            <a:endParaRPr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200775" y="2476500"/>
            <a:ext cx="23814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Agentic IR &amp; Tool Use</a:t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6200775" y="2952750"/>
            <a:ext cx="23814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Chain-of-Retrieval</a:t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6200775" y="3429000"/>
            <a:ext cx="23814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Structured &amp; Differentiable IR</a:t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790575" y="1047750"/>
            <a:ext cx="4448100" cy="95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3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The most plausible future is not a single dominant architecture, but a hybrid ecosystem where BM25 remains the sparse backbone, dense retrieval powers semantic candidate generation, and routing methods decide which tool to use per query.</a:t>
            </a:r>
            <a:endParaRPr sz="935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-419" sz="93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This shift moves IR from static ranking toward autonomous systems that rewrite queries, synthesize grounded answers, and act as search agents.</a:t>
            </a:r>
            <a:endParaRPr sz="935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7" name="Google Shape;237;p20"/>
          <p:cNvGrpSpPr/>
          <p:nvPr/>
        </p:nvGrpSpPr>
        <p:grpSpPr>
          <a:xfrm>
            <a:off x="5886450" y="2505710"/>
            <a:ext cx="285900" cy="1333500"/>
            <a:chOff x="5886450" y="2505710"/>
            <a:chExt cx="285900" cy="1333500"/>
          </a:xfrm>
        </p:grpSpPr>
        <p:sp>
          <p:nvSpPr>
            <p:cNvPr id="238" name="Google Shape;238;p20"/>
            <p:cNvSpPr txBox="1"/>
            <p:nvPr/>
          </p:nvSpPr>
          <p:spPr>
            <a:xfrm>
              <a:off x="5886450" y="2505710"/>
              <a:ext cx="285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2000">
                  <a:solidFill>
                    <a:srgbClr val="90816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smart_toy</a:t>
              </a:r>
              <a:endParaRPr sz="2000">
                <a:solidFill>
                  <a:srgbClr val="90816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5886450" y="2981960"/>
              <a:ext cx="285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2000">
                  <a:solidFill>
                    <a:srgbClr val="90816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sz="2000">
                <a:solidFill>
                  <a:srgbClr val="90816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5886450" y="3458210"/>
              <a:ext cx="285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2000">
                  <a:solidFill>
                    <a:srgbClr val="90816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2000">
                <a:solidFill>
                  <a:srgbClr val="90816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41" name="Google Shape;241;p20"/>
          <p:cNvSpPr txBox="1"/>
          <p:nvPr/>
        </p:nvSpPr>
        <p:spPr>
          <a:xfrm>
            <a:off x="228600" y="4810125"/>
            <a:ext cx="868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90816A"/>
                </a:solidFill>
                <a:latin typeface="Inter"/>
                <a:ea typeface="Inter"/>
                <a:cs typeface="Inter"/>
                <a:sym typeface="Inter"/>
              </a:rPr>
              <a:t>[3] Mauricio Montes. (2026). LLM and Search: From Lexical Retrieval to Agentic Information Retrieval. Tsinghua University Technical Report.</a:t>
            </a:r>
            <a:endParaRPr sz="800">
              <a:solidFill>
                <a:srgbClr val="90816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cxnSp>
        <p:nvCxnSpPr>
          <p:cNvPr id="247" name="Google Shape;247;p21"/>
          <p:cNvCxnSpPr/>
          <p:nvPr/>
        </p:nvCxnSpPr>
        <p:spPr>
          <a:xfrm>
            <a:off x="945520" y="2112902"/>
            <a:ext cx="1063500" cy="0"/>
          </a:xfrm>
          <a:prstGeom prst="straightConnector1">
            <a:avLst/>
          </a:prstGeom>
          <a:noFill/>
          <a:ln cap="flat" cmpd="sng" w="38100">
            <a:solidFill>
              <a:srgbClr val="90816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8" name="Google Shape;248;p21"/>
          <p:cNvGrpSpPr/>
          <p:nvPr/>
        </p:nvGrpSpPr>
        <p:grpSpPr>
          <a:xfrm>
            <a:off x="3846117" y="1034247"/>
            <a:ext cx="2231461" cy="1543114"/>
            <a:chOff x="0" y="0"/>
            <a:chExt cx="1175443" cy="812850"/>
          </a:xfrm>
        </p:grpSpPr>
        <p:sp>
          <p:nvSpPr>
            <p:cNvPr id="249" name="Google Shape;249;p21"/>
            <p:cNvSpPr/>
            <p:nvPr/>
          </p:nvSpPr>
          <p:spPr>
            <a:xfrm>
              <a:off x="0" y="0"/>
              <a:ext cx="1175443" cy="812800"/>
            </a:xfrm>
            <a:custGeom>
              <a:rect b="b" l="l" r="r" t="t"/>
              <a:pathLst>
                <a:path extrusionOk="0" h="812800" w="1175443">
                  <a:moveTo>
                    <a:pt x="64183" y="0"/>
                  </a:moveTo>
                  <a:lnTo>
                    <a:pt x="1111259" y="0"/>
                  </a:lnTo>
                  <a:cubicBezTo>
                    <a:pt x="1128282" y="0"/>
                    <a:pt x="1144607" y="6762"/>
                    <a:pt x="1156644" y="18799"/>
                  </a:cubicBezTo>
                  <a:cubicBezTo>
                    <a:pt x="1168681" y="30836"/>
                    <a:pt x="1175443" y="47161"/>
                    <a:pt x="1175443" y="64183"/>
                  </a:cubicBezTo>
                  <a:lnTo>
                    <a:pt x="1175443" y="748617"/>
                  </a:lnTo>
                  <a:cubicBezTo>
                    <a:pt x="1175443" y="765639"/>
                    <a:pt x="1168681" y="781964"/>
                    <a:pt x="1156644" y="794001"/>
                  </a:cubicBezTo>
                  <a:cubicBezTo>
                    <a:pt x="1144607" y="806038"/>
                    <a:pt x="1128282" y="812800"/>
                    <a:pt x="1111259" y="812800"/>
                  </a:cubicBezTo>
                  <a:lnTo>
                    <a:pt x="64183" y="812800"/>
                  </a:lnTo>
                  <a:cubicBezTo>
                    <a:pt x="47161" y="812800"/>
                    <a:pt x="30836" y="806038"/>
                    <a:pt x="18799" y="794001"/>
                  </a:cubicBezTo>
                  <a:cubicBezTo>
                    <a:pt x="6762" y="781964"/>
                    <a:pt x="0" y="765639"/>
                    <a:pt x="0" y="748617"/>
                  </a:cubicBezTo>
                  <a:lnTo>
                    <a:pt x="0" y="64183"/>
                  </a:lnTo>
                  <a:cubicBezTo>
                    <a:pt x="0" y="47161"/>
                    <a:pt x="6762" y="30836"/>
                    <a:pt x="18799" y="18799"/>
                  </a:cubicBezTo>
                  <a:cubicBezTo>
                    <a:pt x="30836" y="6762"/>
                    <a:pt x="47161" y="0"/>
                    <a:pt x="64183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363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0" y="19050"/>
              <a:ext cx="11754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21"/>
          <p:cNvGrpSpPr/>
          <p:nvPr/>
        </p:nvGrpSpPr>
        <p:grpSpPr>
          <a:xfrm>
            <a:off x="3846117" y="2815063"/>
            <a:ext cx="2231461" cy="1543114"/>
            <a:chOff x="0" y="0"/>
            <a:chExt cx="1175443" cy="812850"/>
          </a:xfrm>
        </p:grpSpPr>
        <p:sp>
          <p:nvSpPr>
            <p:cNvPr id="252" name="Google Shape;252;p21"/>
            <p:cNvSpPr/>
            <p:nvPr/>
          </p:nvSpPr>
          <p:spPr>
            <a:xfrm>
              <a:off x="0" y="0"/>
              <a:ext cx="1175443" cy="812800"/>
            </a:xfrm>
            <a:custGeom>
              <a:rect b="b" l="l" r="r" t="t"/>
              <a:pathLst>
                <a:path extrusionOk="0" h="812800" w="1175443">
                  <a:moveTo>
                    <a:pt x="64183" y="0"/>
                  </a:moveTo>
                  <a:lnTo>
                    <a:pt x="1111259" y="0"/>
                  </a:lnTo>
                  <a:cubicBezTo>
                    <a:pt x="1128282" y="0"/>
                    <a:pt x="1144607" y="6762"/>
                    <a:pt x="1156644" y="18799"/>
                  </a:cubicBezTo>
                  <a:cubicBezTo>
                    <a:pt x="1168681" y="30836"/>
                    <a:pt x="1175443" y="47161"/>
                    <a:pt x="1175443" y="64183"/>
                  </a:cubicBezTo>
                  <a:lnTo>
                    <a:pt x="1175443" y="748617"/>
                  </a:lnTo>
                  <a:cubicBezTo>
                    <a:pt x="1175443" y="765639"/>
                    <a:pt x="1168681" y="781964"/>
                    <a:pt x="1156644" y="794001"/>
                  </a:cubicBezTo>
                  <a:cubicBezTo>
                    <a:pt x="1144607" y="806038"/>
                    <a:pt x="1128282" y="812800"/>
                    <a:pt x="1111259" y="812800"/>
                  </a:cubicBezTo>
                  <a:lnTo>
                    <a:pt x="64183" y="812800"/>
                  </a:lnTo>
                  <a:cubicBezTo>
                    <a:pt x="47161" y="812800"/>
                    <a:pt x="30836" y="806038"/>
                    <a:pt x="18799" y="794001"/>
                  </a:cubicBezTo>
                  <a:cubicBezTo>
                    <a:pt x="6762" y="781964"/>
                    <a:pt x="0" y="765639"/>
                    <a:pt x="0" y="748617"/>
                  </a:cubicBezTo>
                  <a:lnTo>
                    <a:pt x="0" y="64183"/>
                  </a:lnTo>
                  <a:cubicBezTo>
                    <a:pt x="0" y="47161"/>
                    <a:pt x="6762" y="30836"/>
                    <a:pt x="18799" y="18799"/>
                  </a:cubicBezTo>
                  <a:cubicBezTo>
                    <a:pt x="30836" y="6762"/>
                    <a:pt x="47161" y="0"/>
                    <a:pt x="64183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363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1"/>
            <p:cNvSpPr txBox="1"/>
            <p:nvPr/>
          </p:nvSpPr>
          <p:spPr>
            <a:xfrm>
              <a:off x="0" y="19050"/>
              <a:ext cx="11754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21"/>
          <p:cNvGrpSpPr/>
          <p:nvPr/>
        </p:nvGrpSpPr>
        <p:grpSpPr>
          <a:xfrm>
            <a:off x="6291014" y="1034247"/>
            <a:ext cx="2231461" cy="1543114"/>
            <a:chOff x="0" y="0"/>
            <a:chExt cx="1175443" cy="812850"/>
          </a:xfrm>
        </p:grpSpPr>
        <p:sp>
          <p:nvSpPr>
            <p:cNvPr id="255" name="Google Shape;255;p21"/>
            <p:cNvSpPr/>
            <p:nvPr/>
          </p:nvSpPr>
          <p:spPr>
            <a:xfrm>
              <a:off x="0" y="0"/>
              <a:ext cx="1175443" cy="812800"/>
            </a:xfrm>
            <a:custGeom>
              <a:rect b="b" l="l" r="r" t="t"/>
              <a:pathLst>
                <a:path extrusionOk="0" h="812800" w="1175443">
                  <a:moveTo>
                    <a:pt x="64183" y="0"/>
                  </a:moveTo>
                  <a:lnTo>
                    <a:pt x="1111259" y="0"/>
                  </a:lnTo>
                  <a:cubicBezTo>
                    <a:pt x="1128282" y="0"/>
                    <a:pt x="1144607" y="6762"/>
                    <a:pt x="1156644" y="18799"/>
                  </a:cubicBezTo>
                  <a:cubicBezTo>
                    <a:pt x="1168681" y="30836"/>
                    <a:pt x="1175443" y="47161"/>
                    <a:pt x="1175443" y="64183"/>
                  </a:cubicBezTo>
                  <a:lnTo>
                    <a:pt x="1175443" y="748617"/>
                  </a:lnTo>
                  <a:cubicBezTo>
                    <a:pt x="1175443" y="765639"/>
                    <a:pt x="1168681" y="781964"/>
                    <a:pt x="1156644" y="794001"/>
                  </a:cubicBezTo>
                  <a:cubicBezTo>
                    <a:pt x="1144607" y="806038"/>
                    <a:pt x="1128282" y="812800"/>
                    <a:pt x="1111259" y="812800"/>
                  </a:cubicBezTo>
                  <a:lnTo>
                    <a:pt x="64183" y="812800"/>
                  </a:lnTo>
                  <a:cubicBezTo>
                    <a:pt x="47161" y="812800"/>
                    <a:pt x="30836" y="806038"/>
                    <a:pt x="18799" y="794001"/>
                  </a:cubicBezTo>
                  <a:cubicBezTo>
                    <a:pt x="6762" y="781964"/>
                    <a:pt x="0" y="765639"/>
                    <a:pt x="0" y="748617"/>
                  </a:cubicBezTo>
                  <a:lnTo>
                    <a:pt x="0" y="64183"/>
                  </a:lnTo>
                  <a:cubicBezTo>
                    <a:pt x="0" y="47161"/>
                    <a:pt x="6762" y="30836"/>
                    <a:pt x="18799" y="18799"/>
                  </a:cubicBezTo>
                  <a:cubicBezTo>
                    <a:pt x="30836" y="6762"/>
                    <a:pt x="47161" y="0"/>
                    <a:pt x="64183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363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1"/>
            <p:cNvSpPr txBox="1"/>
            <p:nvPr/>
          </p:nvSpPr>
          <p:spPr>
            <a:xfrm>
              <a:off x="0" y="19050"/>
              <a:ext cx="11754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21"/>
          <p:cNvGrpSpPr/>
          <p:nvPr/>
        </p:nvGrpSpPr>
        <p:grpSpPr>
          <a:xfrm>
            <a:off x="6291014" y="2815063"/>
            <a:ext cx="2231461" cy="1543114"/>
            <a:chOff x="0" y="0"/>
            <a:chExt cx="1175443" cy="812850"/>
          </a:xfrm>
        </p:grpSpPr>
        <p:sp>
          <p:nvSpPr>
            <p:cNvPr id="258" name="Google Shape;258;p21"/>
            <p:cNvSpPr/>
            <p:nvPr/>
          </p:nvSpPr>
          <p:spPr>
            <a:xfrm>
              <a:off x="0" y="0"/>
              <a:ext cx="1175443" cy="812800"/>
            </a:xfrm>
            <a:custGeom>
              <a:rect b="b" l="l" r="r" t="t"/>
              <a:pathLst>
                <a:path extrusionOk="0" h="812800" w="1175443">
                  <a:moveTo>
                    <a:pt x="64183" y="0"/>
                  </a:moveTo>
                  <a:lnTo>
                    <a:pt x="1111259" y="0"/>
                  </a:lnTo>
                  <a:cubicBezTo>
                    <a:pt x="1128282" y="0"/>
                    <a:pt x="1144607" y="6762"/>
                    <a:pt x="1156644" y="18799"/>
                  </a:cubicBezTo>
                  <a:cubicBezTo>
                    <a:pt x="1168681" y="30836"/>
                    <a:pt x="1175443" y="47161"/>
                    <a:pt x="1175443" y="64183"/>
                  </a:cubicBezTo>
                  <a:lnTo>
                    <a:pt x="1175443" y="748617"/>
                  </a:lnTo>
                  <a:cubicBezTo>
                    <a:pt x="1175443" y="765639"/>
                    <a:pt x="1168681" y="781964"/>
                    <a:pt x="1156644" y="794001"/>
                  </a:cubicBezTo>
                  <a:cubicBezTo>
                    <a:pt x="1144607" y="806038"/>
                    <a:pt x="1128282" y="812800"/>
                    <a:pt x="1111259" y="812800"/>
                  </a:cubicBezTo>
                  <a:lnTo>
                    <a:pt x="64183" y="812800"/>
                  </a:lnTo>
                  <a:cubicBezTo>
                    <a:pt x="47161" y="812800"/>
                    <a:pt x="30836" y="806038"/>
                    <a:pt x="18799" y="794001"/>
                  </a:cubicBezTo>
                  <a:cubicBezTo>
                    <a:pt x="6762" y="781964"/>
                    <a:pt x="0" y="765639"/>
                    <a:pt x="0" y="748617"/>
                  </a:cubicBezTo>
                  <a:lnTo>
                    <a:pt x="0" y="64183"/>
                  </a:lnTo>
                  <a:cubicBezTo>
                    <a:pt x="0" y="47161"/>
                    <a:pt x="6762" y="30836"/>
                    <a:pt x="18799" y="18799"/>
                  </a:cubicBezTo>
                  <a:cubicBezTo>
                    <a:pt x="30836" y="6762"/>
                    <a:pt x="47161" y="0"/>
                    <a:pt x="64183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363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1"/>
            <p:cNvSpPr txBox="1"/>
            <p:nvPr/>
          </p:nvSpPr>
          <p:spPr>
            <a:xfrm>
              <a:off x="0" y="19050"/>
              <a:ext cx="11754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21"/>
          <p:cNvGrpSpPr/>
          <p:nvPr/>
        </p:nvGrpSpPr>
        <p:grpSpPr>
          <a:xfrm>
            <a:off x="5953384" y="1552957"/>
            <a:ext cx="434523" cy="434523"/>
            <a:chOff x="0" y="0"/>
            <a:chExt cx="812800" cy="812800"/>
          </a:xfrm>
        </p:grpSpPr>
        <p:sp>
          <p:nvSpPr>
            <p:cNvPr id="261" name="Google Shape;261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1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21"/>
          <p:cNvGrpSpPr/>
          <p:nvPr/>
        </p:nvGrpSpPr>
        <p:grpSpPr>
          <a:xfrm>
            <a:off x="5953384" y="3313470"/>
            <a:ext cx="434523" cy="434523"/>
            <a:chOff x="0" y="0"/>
            <a:chExt cx="812800" cy="812800"/>
          </a:xfrm>
        </p:grpSpPr>
        <p:sp>
          <p:nvSpPr>
            <p:cNvPr id="264" name="Google Shape;264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1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21"/>
          <p:cNvSpPr/>
          <p:nvPr/>
        </p:nvSpPr>
        <p:spPr>
          <a:xfrm rot="-5400000">
            <a:off x="6101740" y="1677101"/>
            <a:ext cx="137823" cy="186247"/>
          </a:xfrm>
          <a:custGeom>
            <a:rect b="b" l="l" r="r" t="t"/>
            <a:pathLst>
              <a:path extrusionOk="0" h="372494" w="275646">
                <a:moveTo>
                  <a:pt x="0" y="0"/>
                </a:moveTo>
                <a:lnTo>
                  <a:pt x="275646" y="0"/>
                </a:lnTo>
                <a:lnTo>
                  <a:pt x="275646" y="372494"/>
                </a:lnTo>
                <a:lnTo>
                  <a:pt x="0" y="372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21"/>
          <p:cNvSpPr/>
          <p:nvPr/>
        </p:nvSpPr>
        <p:spPr>
          <a:xfrm rot="-5400000">
            <a:off x="6101740" y="3437614"/>
            <a:ext cx="137823" cy="186247"/>
          </a:xfrm>
          <a:custGeom>
            <a:rect b="b" l="l" r="r" t="t"/>
            <a:pathLst>
              <a:path extrusionOk="0" h="372494" w="275646">
                <a:moveTo>
                  <a:pt x="0" y="0"/>
                </a:moveTo>
                <a:lnTo>
                  <a:pt x="275646" y="0"/>
                </a:lnTo>
                <a:lnTo>
                  <a:pt x="275646" y="372494"/>
                </a:lnTo>
                <a:lnTo>
                  <a:pt x="0" y="372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21"/>
          <p:cNvSpPr txBox="1"/>
          <p:nvPr/>
        </p:nvSpPr>
        <p:spPr>
          <a:xfrm>
            <a:off x="916510" y="892254"/>
            <a:ext cx="2317200" cy="101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Beyond Static Ranking</a:t>
            </a:r>
            <a:endParaRPr b="1" sz="33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916510" y="3250882"/>
            <a:ext cx="25239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Future systems optimize for task completion, ensuring factual grounding and iterative reasoning through agentic loops.</a:t>
            </a:r>
            <a:endParaRPr b="0"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916510" y="2374202"/>
            <a:ext cx="2638200" cy="469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018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The shift from relevance@k to utility: search is now a compositional process of planning, synthesis, and self-critique.</a:t>
            </a:r>
            <a:endParaRPr b="0" sz="1018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4208736" y="1266444"/>
            <a:ext cx="1557600" cy="15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2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RAG Myth</a:t>
            </a:r>
            <a:endParaRPr b="1" sz="102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208736" y="3037151"/>
            <a:ext cx="1557600" cy="15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2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Context Myth</a:t>
            </a:r>
            <a:endParaRPr b="1" sz="102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6690017" y="1266444"/>
            <a:ext cx="1557600" cy="15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2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RAG Truth</a:t>
            </a:r>
            <a:endParaRPr b="1" sz="102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6690017" y="3037151"/>
            <a:ext cx="1557600" cy="15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2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Context Truth</a:t>
            </a:r>
            <a:endParaRPr b="1" sz="102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21"/>
          <p:cNvSpPr/>
          <p:nvPr/>
        </p:nvSpPr>
        <p:spPr>
          <a:xfrm rot="10800000">
            <a:off x="7704007" y="462915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21"/>
          <p:cNvSpPr/>
          <p:nvPr/>
        </p:nvSpPr>
        <p:spPr>
          <a:xfrm>
            <a:off x="4180584" y="528953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5" y="0"/>
                </a:lnTo>
                <a:lnTo>
                  <a:pt x="1045375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21"/>
          <p:cNvSpPr txBox="1"/>
          <p:nvPr/>
        </p:nvSpPr>
        <p:spPr>
          <a:xfrm>
            <a:off x="4208736" y="1586922"/>
            <a:ext cx="1613100" cy="6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9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"RAG solves all hallucinations." In reality, systems fail if the retriever misses evidence or the generator ignores it.</a:t>
            </a:r>
            <a:endParaRPr b="0" sz="9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236675" y="205850"/>
            <a:ext cx="170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III. Future Directions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690017" y="1586922"/>
            <a:ext cx="1630800" cy="6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9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RAG is a practical grounding default, but requires multi-objective evaluation: faithfulness and citation accuracy.</a:t>
            </a:r>
            <a:endParaRPr b="0" sz="9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4208736" y="3347437"/>
            <a:ext cx="1613100" cy="6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9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"Long-context LLMs eliminate retrieval." However, they struggle with 'lost in the middle' and high operational costs.</a:t>
            </a:r>
            <a:endParaRPr b="0" sz="9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6690017" y="3347437"/>
            <a:ext cx="1630800" cy="6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9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Long-context increases visibility, but retrieval controls attention and remains the most scalable filter for massive corpora.</a:t>
            </a:r>
            <a:endParaRPr b="0" sz="9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228600" y="4810125"/>
            <a:ext cx="868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800">
                <a:solidFill>
                  <a:srgbClr val="90816A"/>
                </a:solidFill>
                <a:latin typeface="Inter"/>
                <a:ea typeface="Inter"/>
                <a:cs typeface="Inter"/>
                <a:sym typeface="Inter"/>
              </a:rPr>
              <a:t>[3] Mauricio Montes. (2026). LLM and Search: From Lexical Retrieval to Agentic Information Retrieval. Tsinghua University Technical Report.</a:t>
            </a:r>
            <a:endParaRPr b="0" sz="800">
              <a:solidFill>
                <a:srgbClr val="90816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/>
          <p:nvPr/>
        </p:nvSpPr>
        <p:spPr>
          <a:xfrm>
            <a:off x="794668" y="858276"/>
            <a:ext cx="3055997" cy="3664926"/>
          </a:xfrm>
          <a:custGeom>
            <a:rect b="b" l="l" r="r" t="t"/>
            <a:pathLst>
              <a:path extrusionOk="0" h="1135531" w="946862">
                <a:moveTo>
                  <a:pt x="29135" y="0"/>
                </a:moveTo>
                <a:lnTo>
                  <a:pt x="917727" y="0"/>
                </a:lnTo>
                <a:cubicBezTo>
                  <a:pt x="925454" y="0"/>
                  <a:pt x="932865" y="3070"/>
                  <a:pt x="938329" y="8533"/>
                </a:cubicBezTo>
                <a:cubicBezTo>
                  <a:pt x="943793" y="13997"/>
                  <a:pt x="946862" y="21408"/>
                  <a:pt x="946862" y="29135"/>
                </a:cubicBezTo>
                <a:lnTo>
                  <a:pt x="946862" y="1106396"/>
                </a:lnTo>
                <a:cubicBezTo>
                  <a:pt x="946862" y="1122487"/>
                  <a:pt x="933818" y="1135531"/>
                  <a:pt x="917727" y="1135531"/>
                </a:cubicBezTo>
                <a:lnTo>
                  <a:pt x="29135" y="1135531"/>
                </a:lnTo>
                <a:cubicBezTo>
                  <a:pt x="21408" y="1135531"/>
                  <a:pt x="13997" y="1132461"/>
                  <a:pt x="8533" y="1126997"/>
                </a:cubicBezTo>
                <a:cubicBezTo>
                  <a:pt x="3070" y="1121534"/>
                  <a:pt x="0" y="1114123"/>
                  <a:pt x="0" y="1106396"/>
                </a:cubicBezTo>
                <a:lnTo>
                  <a:pt x="0" y="29135"/>
                </a:lnTo>
                <a:cubicBezTo>
                  <a:pt x="0" y="21408"/>
                  <a:pt x="3070" y="13997"/>
                  <a:pt x="8533" y="8533"/>
                </a:cubicBezTo>
                <a:cubicBezTo>
                  <a:pt x="13997" y="3070"/>
                  <a:pt x="21408" y="0"/>
                  <a:pt x="29135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305" r="-20595" t="0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8" name="Google Shape;288;p22"/>
          <p:cNvGrpSpPr/>
          <p:nvPr/>
        </p:nvGrpSpPr>
        <p:grpSpPr>
          <a:xfrm>
            <a:off x="3430618" y="1206652"/>
            <a:ext cx="1469136" cy="3048000"/>
            <a:chOff x="0" y="0"/>
            <a:chExt cx="9182100" cy="19050000"/>
          </a:xfrm>
        </p:grpSpPr>
        <p:sp>
          <p:nvSpPr>
            <p:cNvPr id="289" name="Google Shape;289;p22"/>
            <p:cNvSpPr/>
            <p:nvPr/>
          </p:nvSpPr>
          <p:spPr>
            <a:xfrm>
              <a:off x="395859" y="240665"/>
              <a:ext cx="8381619" cy="18062447"/>
            </a:xfrm>
            <a:custGeom>
              <a:rect b="b" l="l" r="r" t="t"/>
              <a:pathLst>
                <a:path extrusionOk="0" h="18062447" w="8381619">
                  <a:moveTo>
                    <a:pt x="7301738" y="18062447"/>
                  </a:moveTo>
                  <a:lnTo>
                    <a:pt x="1080008" y="18062447"/>
                  </a:lnTo>
                  <a:cubicBezTo>
                    <a:pt x="483489" y="18062447"/>
                    <a:pt x="0" y="17578832"/>
                    <a:pt x="0" y="16982439"/>
                  </a:cubicBezTo>
                  <a:lnTo>
                    <a:pt x="0" y="1082675"/>
                  </a:lnTo>
                  <a:cubicBezTo>
                    <a:pt x="0" y="484759"/>
                    <a:pt x="484759" y="0"/>
                    <a:pt x="1082675" y="0"/>
                  </a:cubicBezTo>
                  <a:lnTo>
                    <a:pt x="7299071" y="0"/>
                  </a:lnTo>
                  <a:cubicBezTo>
                    <a:pt x="7896988" y="0"/>
                    <a:pt x="8381619" y="484759"/>
                    <a:pt x="8381619" y="1082548"/>
                  </a:cubicBezTo>
                  <a:lnTo>
                    <a:pt x="8381619" y="16982439"/>
                  </a:lnTo>
                  <a:cubicBezTo>
                    <a:pt x="8381873" y="17578959"/>
                    <a:pt x="7898384" y="18062447"/>
                    <a:pt x="7301738" y="18062447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111624" r="-111624" t="0"/>
              </a:stretch>
            </a:blip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0" y="0"/>
              <a:ext cx="9182100" cy="19050000"/>
            </a:xfrm>
            <a:custGeom>
              <a:rect b="b" l="l" r="r" t="t"/>
              <a:pathLst>
                <a:path extrusionOk="0" h="19050000" w="9182100">
                  <a:moveTo>
                    <a:pt x="9182100" y="0"/>
                  </a:moveTo>
                  <a:lnTo>
                    <a:pt x="9182100" y="19050000"/>
                  </a:lnTo>
                  <a:lnTo>
                    <a:pt x="0" y="19050000"/>
                  </a:lnTo>
                  <a:lnTo>
                    <a:pt x="0" y="0"/>
                  </a:lnTo>
                  <a:lnTo>
                    <a:pt x="918210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08" l="0" r="0" t="-208"/>
              </a:stretch>
            </a:blipFill>
            <a:ln>
              <a:noFill/>
            </a:ln>
          </p:spPr>
        </p:sp>
      </p:grpSp>
      <p:sp>
        <p:nvSpPr>
          <p:cNvPr id="291" name="Google Shape;291;p22"/>
          <p:cNvSpPr/>
          <p:nvPr/>
        </p:nvSpPr>
        <p:spPr>
          <a:xfrm>
            <a:off x="3989961" y="2571750"/>
            <a:ext cx="240661" cy="240660"/>
          </a:xfrm>
          <a:custGeom>
            <a:rect b="b" l="l" r="r" t="t"/>
            <a:pathLst>
              <a:path extrusionOk="0" h="481321" w="481321">
                <a:moveTo>
                  <a:pt x="0" y="0"/>
                </a:moveTo>
                <a:lnTo>
                  <a:pt x="481321" y="0"/>
                </a:lnTo>
                <a:lnTo>
                  <a:pt x="481321" y="481321"/>
                </a:lnTo>
                <a:lnTo>
                  <a:pt x="0" y="481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22"/>
          <p:cNvSpPr txBox="1"/>
          <p:nvPr/>
        </p:nvSpPr>
        <p:spPr>
          <a:xfrm>
            <a:off x="5551731" y="1096529"/>
            <a:ext cx="302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Cormorant Garamond"/>
                <a:ea typeface="Cormorant Garamond"/>
                <a:cs typeface="Cormorant Garamond"/>
                <a:sym typeface="Cormorant Garamond"/>
              </a:rPr>
              <a:t>Conclusion</a:t>
            </a:r>
            <a:endParaRPr sz="700"/>
          </a:p>
        </p:txBody>
      </p:sp>
      <p:sp>
        <p:nvSpPr>
          <p:cNvPr id="293" name="Google Shape;293;p22"/>
          <p:cNvSpPr/>
          <p:nvPr/>
        </p:nvSpPr>
        <p:spPr>
          <a:xfrm rot="10800000">
            <a:off x="7704007" y="462915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4" name="Google Shape;294;p22"/>
          <p:cNvCxnSpPr/>
          <p:nvPr/>
        </p:nvCxnSpPr>
        <p:spPr>
          <a:xfrm>
            <a:off x="5551731" y="1600123"/>
            <a:ext cx="1063500" cy="0"/>
          </a:xfrm>
          <a:prstGeom prst="straightConnector1">
            <a:avLst/>
          </a:prstGeom>
          <a:noFill/>
          <a:ln cap="flat" cmpd="sng" w="38100">
            <a:solidFill>
              <a:srgbClr val="9081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22"/>
          <p:cNvSpPr/>
          <p:nvPr/>
        </p:nvSpPr>
        <p:spPr>
          <a:xfrm>
            <a:off x="4377258" y="522850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5" y="0"/>
                </a:lnTo>
                <a:lnTo>
                  <a:pt x="1045375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22"/>
          <p:cNvSpPr txBox="1"/>
          <p:nvPr/>
        </p:nvSpPr>
        <p:spPr>
          <a:xfrm>
            <a:off x="236675" y="205850"/>
            <a:ext cx="170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III. Future Directions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5551722" y="1767088"/>
            <a:ext cx="3048000" cy="121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7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Paradigm Shift in IR</a:t>
            </a:r>
            <a:endParaRPr b="1" sz="77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s-419" sz="775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Search has evolved from static item ranking to a compositional process of planning, synthesis, and autonomous action.</a:t>
            </a:r>
            <a:endParaRPr b="0" sz="775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-419" sz="775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Utility now takes precedence over simple relevance, prioritizing factual grounding and task completion through agentic loops.</a:t>
            </a:r>
            <a:endParaRPr b="0" sz="775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-419" sz="775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The future is a hybrid ecosystem: BM25 as the sparse backbone, dense retrieval for semantic recall, and RAG as the default grounding mechanism.</a:t>
            </a:r>
            <a:endParaRPr b="0" sz="775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"/>
          <p:cNvSpPr txBox="1"/>
          <p:nvPr/>
        </p:nvSpPr>
        <p:spPr>
          <a:xfrm>
            <a:off x="161650" y="222150"/>
            <a:ext cx="579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Cormorant Garamond"/>
                <a:ea typeface="Cormorant Garamond"/>
                <a:cs typeface="Cormorant Garamond"/>
                <a:sym typeface="Cormorant Garamond"/>
              </a:rPr>
              <a:t>References</a:t>
            </a:r>
            <a:endParaRPr sz="700"/>
          </a:p>
        </p:txBody>
      </p:sp>
      <p:sp>
        <p:nvSpPr>
          <p:cNvPr id="303" name="Google Shape;303;p23"/>
          <p:cNvSpPr txBox="1"/>
          <p:nvPr/>
        </p:nvSpPr>
        <p:spPr>
          <a:xfrm>
            <a:off x="161650" y="852350"/>
            <a:ext cx="86190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b="0" i="0" lang="es-419" sz="10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Asai, A., Wu, Z., Wang, Y., Sil, A., &amp; Hajishirzi, H. (2024). Self-RAG: Learning to retrieve, generate, and critique through self-reflection. In Proceedings of the International Conference on Learning Representations (ICLR 2024). </a:t>
            </a:r>
            <a:r>
              <a:rPr b="0" i="0" lang="es-419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https://arxiv.org/abs/2310.11511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b="0" i="0" lang="es-419" sz="10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Karpukhin, V., Oğuz, B., Min, S., Lewis, P., Wu, L., Edunov, S., Chen, D., &amp; Yih, W.-t. (2020). Dense passage retrieval for open-domain question answering. In Proceedings of the 2020 Conference on Empirical Methods in Natural Language Processing (EMNLP). </a:t>
            </a:r>
            <a:r>
              <a:rPr b="0" i="0" lang="es-419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https://arxiv.org/abs/2004.04906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b="0" i="0" lang="es-419" sz="10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Lewis, P., Perez, E., Piktus, A., Petroni, F., Karpukhin, V., Goyal, N., Küttler, H., Lewis, M., Yih, W.-t., Rocktäschel, T., Riedel, S., &amp; Kiela, D. (2020). Retrieval-augmented generation for knowledge-intensive NLP tasks. In Advances in Neural Information Processing Systems, 33. </a:t>
            </a:r>
            <a:r>
              <a:rPr b="0" i="0" lang="es-419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https://arxiv.org/abs/2005.11401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b="0" i="0" lang="es-419" sz="10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Li, X., Jin, J., Zhou, Y., Zhang, Y., Zhang, P., Zhu, Y., &amp; Dou, Z. (2024). From matching to generation: A survey on generative information retrieval. arXiv. </a:t>
            </a:r>
            <a:r>
              <a:rPr b="0" i="0" lang="es-419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https://arxiv.org/abs/2404.14851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b="0" i="0" lang="es-419" sz="10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Li, Z., Li, C., Zhang, M., Mei, Q., &amp; Bendersky, M. (2024). Retrieval augmented generation or long-context LLMs? A comprehensive study and hybrid approach. In Proceedings of the 2024 Conference on Empirical Methods in Natural Language Processing: Industry Track. </a:t>
            </a:r>
            <a:r>
              <a:rPr b="0" i="0" lang="es-419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7"/>
              </a:rPr>
              <a:t>https://arxiv.org/abs/2407.16833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b="0" i="0" lang="es-419" sz="10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Tay, Y., Tran, V. Q., Dehghani, M., Ni, J., Bahri, D., Mehta, H., Qin, Z., Hui, K., Zhao, Z., Gupta, J., Schuster, T., Cohen, W. W., &amp; Metzler, D. (2022). Transformer memory as a differentiable search index. In Advances in Neural Information Processing Systems, 35. </a:t>
            </a:r>
            <a:r>
              <a:rPr b="0" i="0" lang="es-419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8"/>
              </a:rPr>
              <a:t>https://arxiv.org/abs/2202.06991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b="0" i="0" lang="es-419" sz="10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Wang, X., Chen, Y., Zhang, B., Zhao, J., Wei, C., Xu, C., Guan, Z., Zhao, W., Zhang, W., &amp; Zeng, X. (2026). Differentiable geometric indexing for end-to-end generative retrieval. arXiv. </a:t>
            </a:r>
            <a:r>
              <a:rPr b="0" i="0" lang="es-419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9"/>
              </a:rPr>
              <a:t>https://arxiv.org/abs/2603.10409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b="0" i="0" lang="es-419" sz="10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Wang, L., Chen, H., Yang, N., Huang, X., Dou, Z., &amp; Wei, F. (2025). Chain-of-retrieval augmented generation. arXiv. https://arxiv.org/abs/2501.14342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8492058" y="148125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5" y="0"/>
                </a:lnTo>
                <a:lnTo>
                  <a:pt x="1045375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161650" y="222150"/>
            <a:ext cx="579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Cormorant Garamond"/>
                <a:ea typeface="Cormorant Garamond"/>
                <a:cs typeface="Cormorant Garamond"/>
                <a:sym typeface="Cormorant Garamond"/>
              </a:rPr>
              <a:t>R</a:t>
            </a:r>
            <a:r>
              <a:rPr b="1" lang="es-419" sz="3300">
                <a:latin typeface="Cormorant Garamond"/>
                <a:ea typeface="Cormorant Garamond"/>
                <a:cs typeface="Cormorant Garamond"/>
                <a:sym typeface="Cormorant Garamond"/>
              </a:rPr>
              <a:t>eferences</a:t>
            </a:r>
            <a:endParaRPr sz="700"/>
          </a:p>
        </p:txBody>
      </p:sp>
      <p:sp>
        <p:nvSpPr>
          <p:cNvPr id="310" name="Google Shape;310;p24"/>
          <p:cNvSpPr txBox="1"/>
          <p:nvPr/>
        </p:nvSpPr>
        <p:spPr>
          <a:xfrm>
            <a:off x="161650" y="852350"/>
            <a:ext cx="86190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lang="es-419" sz="10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Wu, S., Xiong, Y., Cui, Y., Wu, H., Chen, C., Yuan, Y., Huang, L., Liu, X., Kuo, T.-W., Guan, N., &amp; Xue, C. J. (2024). Retrieval-augmented generation for natural language processing: A survey. arXiv. https://arxiv.org/abs/2407.13193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lang="es-419" sz="10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Yao, S., Zhao, J., Yu, D., Shafran, I., Narasimhan, K., &amp; Cao, Y. (2023). ReAct: Synergizing reasoning and acting in language models. In Proceedings of the International Conference on Learning Representations (ICLR 2023). https://arxiv.org/abs/2210.03629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lang="es-419" sz="10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Zhang, W., Liao, J., Li, N., Du, K., &amp; Lin, J. (2024). Agentic information retrieval. arXiv. https://arxiv.org/abs/2410.09713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lang="es-419" sz="10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Zhao, S., Yang, Y., Wang, Z., He, Z., Qiu, L. K., &amp; Qiu, L. (2024). Retrieval augmented generation (RAG) and beyond: A comprehensive survey on how to make your LLMs use external data more wisely. arXiv. https://arxiv.org/abs/2409.14924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lang="es-419" sz="10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Zhu, Y., Yuan, H., Wang, S., Liu, J., Liu, W., Deng, C., Chen, H., Liu, Z., Dou, Z., &amp; Wen, J.-R. (2023). Large language models for information retrieval: A survey. arXiv. https://arxiv.org/abs/2308.07107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lang="es-419" sz="10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Zheng, Y., Li, P., Liu, W., Liu, Y., Luan, J., &amp; Wang, B. (2024). Adaptive and hierarchy-aware reranking for tool retrieval. arXiv. https://arxiv.org/abs/2403.06551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lang="es-419" sz="10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Ma, X., Gong, Y., He, P., Zhao, H., &amp; Duan, N. (2023). Query rewriting for retrieval-augmented large language models. arXiv. https://arxiv.org/abs/2305.14283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Inter"/>
              <a:buChar char="●"/>
            </a:pPr>
            <a:r>
              <a:rPr lang="es-419" sz="10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Gao, L., Ma, X., Lin, J., &amp; Callan, J. (2022). Precise zero-shot dense retrieval without relevance labels. arXiv. https://arxiv.org/abs/2212.10496</a:t>
            </a:r>
            <a:endParaRPr sz="1000">
              <a:solidFill>
                <a:srgbClr val="73737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8492058" y="148125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5" y="0"/>
                </a:lnTo>
                <a:lnTo>
                  <a:pt x="1045375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"/>
          <p:cNvSpPr txBox="1"/>
          <p:nvPr/>
        </p:nvSpPr>
        <p:spPr>
          <a:xfrm>
            <a:off x="1718853" y="2283638"/>
            <a:ext cx="5839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Cormorant Garamond"/>
                <a:ea typeface="Cormorant Garamond"/>
                <a:cs typeface="Cormorant Garamond"/>
                <a:sym typeface="Cormorant Garamond"/>
              </a:rPr>
              <a:t>Q &amp; A Time</a:t>
            </a:r>
            <a:endParaRPr sz="700"/>
          </a:p>
        </p:txBody>
      </p:sp>
      <p:sp>
        <p:nvSpPr>
          <p:cNvPr id="317" name="Google Shape;317;p25"/>
          <p:cNvSpPr/>
          <p:nvPr/>
        </p:nvSpPr>
        <p:spPr>
          <a:xfrm rot="10800000">
            <a:off x="7704007" y="462915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18" name="Google Shape;318;p25"/>
          <p:cNvCxnSpPr/>
          <p:nvPr/>
        </p:nvCxnSpPr>
        <p:spPr>
          <a:xfrm>
            <a:off x="2601150" y="2825663"/>
            <a:ext cx="4014000" cy="34200"/>
          </a:xfrm>
          <a:prstGeom prst="straightConnector1">
            <a:avLst/>
          </a:prstGeom>
          <a:noFill/>
          <a:ln cap="flat" cmpd="sng" w="38100">
            <a:solidFill>
              <a:srgbClr val="9081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25"/>
          <p:cNvSpPr/>
          <p:nvPr/>
        </p:nvSpPr>
        <p:spPr>
          <a:xfrm>
            <a:off x="4377258" y="522850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5" y="0"/>
                </a:lnTo>
                <a:lnTo>
                  <a:pt x="1045375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"/>
          <p:cNvSpPr txBox="1"/>
          <p:nvPr/>
        </p:nvSpPr>
        <p:spPr>
          <a:xfrm>
            <a:off x="1360375" y="2097175"/>
            <a:ext cx="6215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Cormorant Garamond"/>
                <a:ea typeface="Cormorant Garamond"/>
                <a:cs typeface="Cormorant Garamond"/>
                <a:sym typeface="Cormorant Garamond"/>
              </a:rPr>
              <a:t>Thank you for your attention!</a:t>
            </a:r>
            <a:endParaRPr sz="700"/>
          </a:p>
        </p:txBody>
      </p:sp>
      <p:sp>
        <p:nvSpPr>
          <p:cNvPr id="325" name="Google Shape;325;p26"/>
          <p:cNvSpPr txBox="1"/>
          <p:nvPr/>
        </p:nvSpPr>
        <p:spPr>
          <a:xfrm>
            <a:off x="1256700" y="2938625"/>
            <a:ext cx="6763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26" name="Google Shape;326;p26"/>
          <p:cNvSpPr/>
          <p:nvPr/>
        </p:nvSpPr>
        <p:spPr>
          <a:xfrm rot="10800000">
            <a:off x="7704007" y="462915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27" name="Google Shape;327;p26"/>
          <p:cNvCxnSpPr/>
          <p:nvPr/>
        </p:nvCxnSpPr>
        <p:spPr>
          <a:xfrm>
            <a:off x="2242675" y="2639200"/>
            <a:ext cx="4590900" cy="29400"/>
          </a:xfrm>
          <a:prstGeom prst="straightConnector1">
            <a:avLst/>
          </a:prstGeom>
          <a:noFill/>
          <a:ln cap="flat" cmpd="sng" w="38100">
            <a:solidFill>
              <a:srgbClr val="9081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26"/>
          <p:cNvSpPr/>
          <p:nvPr/>
        </p:nvSpPr>
        <p:spPr>
          <a:xfrm>
            <a:off x="4377258" y="522850"/>
            <a:ext cx="522688" cy="148253"/>
          </a:xfrm>
          <a:custGeom>
            <a:rect b="b" l="l" r="r" t="t"/>
            <a:pathLst>
              <a:path extrusionOk="0" h="296506" w="1045375">
                <a:moveTo>
                  <a:pt x="0" y="0"/>
                </a:moveTo>
                <a:lnTo>
                  <a:pt x="1045375" y="0"/>
                </a:lnTo>
                <a:lnTo>
                  <a:pt x="1045375" y="296506"/>
                </a:lnTo>
                <a:lnTo>
                  <a:pt x="0" y="296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