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71420"/>
          </a:solidFill>
          <a:ln w="12700">
            <a:solidFill>
              <a:srgbClr val="0714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73152" cy="1920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5760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and Search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Lexical Retrieval to Agentic Information Retrieval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401568"/>
            <a:ext cx="5029200" cy="18288"/>
          </a:xfrm>
          <a:prstGeom prst="rect">
            <a:avLst/>
          </a:prstGeom>
          <a:solidFill>
            <a:srgbClr val="1E3D5A"/>
          </a:solidFill>
          <a:ln w="12700">
            <a:solidFill>
              <a:srgbClr val="1E3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5204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Montes   |   Advanced Research Seminar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Tsinghua University — Web Information Retrieval   | 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1440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lexical to neural retrieval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87452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87452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&amp; Categories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" y="2404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dominant paradigms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83464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83464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&amp; Trade-offs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3364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differs?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" y="379476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379476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840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" y="40873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" y="432511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failure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91440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91440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9601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82896" y="1207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82896" y="14447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187452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73168" y="187452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82896" y="21671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82896" y="2404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hybrid, geometric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2834640"/>
            <a:ext cx="4114800" cy="822960"/>
          </a:xfrm>
          <a:prstGeom prst="rect">
            <a:avLst/>
          </a:prstGeom>
          <a:solidFill>
            <a:srgbClr val="EEF3F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2834640"/>
            <a:ext cx="4572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8803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82896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Q&amp;A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82896" y="3364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reading map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LLMs Changed 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Information Retrieval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68680"/>
            <a:ext cx="2743200" cy="594360"/>
          </a:xfrm>
          <a:prstGeom prst="rect">
            <a:avLst/>
          </a:prstGeom>
          <a:solidFill>
            <a:srgbClr val="5C7A8A"/>
          </a:solidFill>
          <a:ln w="12700">
            <a:solidFill>
              <a:srgbClr val="5C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Era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Pre-2018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3776" y="15727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BM25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2596896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token matching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31089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interpretable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" y="3621024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6440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868680"/>
            <a:ext cx="2743200" cy="5943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Era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74136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15727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embeddings (DPR)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74136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encoders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74136" y="2596896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semantic space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74136" y="31089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paraphrase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4136" y="3621024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supervision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4476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868680"/>
            <a:ext cx="274320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886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Era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54496" y="1152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2022–present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54496" y="1572768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54496" y="2084832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Reranking, RAG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2596896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(Self-RAG)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54496" y="3108960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54496" y="3621024"/>
            <a:ext cx="25420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063240" y="2834640"/>
            <a:ext cx="164592" cy="36576"/>
          </a:xfrm>
          <a:prstGeom prst="rect">
            <a:avLst/>
          </a:prstGeom>
          <a:solidFill>
            <a:srgbClr val="6B7E8F"/>
          </a:solidFill>
          <a:ln w="12700">
            <a:solidFill>
              <a:srgbClr val="6B7E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6791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43600" y="2834640"/>
            <a:ext cx="164592" cy="36576"/>
          </a:xfrm>
          <a:prstGeom prst="rect">
            <a:avLst/>
          </a:prstGeom>
          <a:solidFill>
            <a:srgbClr val="6B7E8F"/>
          </a:solidFill>
          <a:ln w="12700">
            <a:solidFill>
              <a:srgbClr val="6B7E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679192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&amp; Zaragoza (2009); Karpukhin et al. (2020); Zhu et al. (2023)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&amp; Categories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Dominant Paradigms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Dominant Paradigms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868680"/>
            <a:ext cx="2743200" cy="6858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886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 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" y="16093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improve existing retrieval pipelines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01168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rewriting &amp; expansion (HyDE, Ma et al. 2023)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256032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Pseudo-document generation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310896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reranking (Sun et al. 2023)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" y="365760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selection &amp; routing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440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868680"/>
            <a:ext cx="27432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886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74136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LLMs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4136" y="16093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grounds generation (RAG paradigm)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74136" y="201168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evidence at inference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56032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 &amp; stale knowledge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10896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retrieval (Self-RAG, Asai et al. 2024)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365760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Chain-of-Retrieval (CoRAG, Wang et al. 2025)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4768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868680"/>
            <a:ext cx="2743200" cy="685800"/>
          </a:xfrm>
          <a:prstGeom prst="rect">
            <a:avLst/>
          </a:prstGeom>
          <a:solidFill>
            <a:srgbClr val="00566E"/>
          </a:solidFill>
          <a:ln w="12700">
            <a:solidFill>
              <a:srgbClr val="005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88696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54496" y="11155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Search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54496" y="16093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Internalize retrieval inside the model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54496" y="201168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Information Retrieval (GenIR)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56032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Search Index (DSI, Tay et al. 2022)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310896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traditional external index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54496" y="3657600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document ID directly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4048" y="4663440"/>
            <a:ext cx="8375904" cy="201168"/>
          </a:xfrm>
          <a:prstGeom prst="rect">
            <a:avLst/>
          </a:prstGeom>
          <a:solidFill>
            <a:srgbClr val="E8F4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725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Agentic IR (emerging)  —  observation → reasoning → action → state update  (Zhang et al., 2024)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(2020); Tay et al. (2022); Asai et al. (2024); Zhang et al. (2024); Ma et al. (2023)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Differences?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Across Key Dimensions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04672"/>
          <a:ext cx="8449056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822960"/>
                <a:gridCol w="749808"/>
                <a:gridCol w="1097280"/>
                <a:gridCol w="1005840"/>
                <a:gridCol w="2350008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Rerank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(exact)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Exact-match, high-throughput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(semantic)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Paraphrase-heavy semantic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(if good retr.)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QA &amp; enterprise assistants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Long-Context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(if fits)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corpora &amp; long-form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Retrieval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end-to-end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 et al. (2020); Tay et al. (2022); Li et al. (2024); Zhang et al. (2024)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and Failure Modes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 &amp; Cons: Key Architecture Decisions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59536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59536"/>
            <a:ext cx="4160520" cy="347472"/>
          </a:xfrm>
          <a:prstGeom prst="rect">
            <a:avLst/>
          </a:prstGeom>
          <a:solidFill>
            <a:srgbClr val="5C7A8A"/>
          </a:solidFill>
          <a:ln w="12700">
            <a:solidFill>
              <a:srgbClr val="5C7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Sparse Retrieval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9319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Fast, scalable, interpretable
</a:t>
            </a:r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Exact match, rare tokens, identifiers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Vocabulary mismatch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semantic understanding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36008" y="859536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6008" y="859536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87782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(Retrieval-Augmented Generation)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1234440"/>
            <a:ext cx="397764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Grounded, updatable, reduces hallucination
</a:t>
            </a:r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with private/domain-specific data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Quality depends on retrieval quality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Generator may ignore evidence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72491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724912"/>
            <a:ext cx="416052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LLMs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393192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Broad local reasoning over bounded corpora
</a:t>
            </a:r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retrieval pipeline needed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Expensive; 'lost in the middle' problem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a universal replacement for retrieval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36008" y="272491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2724912"/>
            <a:ext cx="4160520" cy="347472"/>
          </a:xfrm>
          <a:prstGeom prst="rect">
            <a:avLst/>
          </a:prstGeom>
          <a:solidFill>
            <a:srgbClr val="00566E"/>
          </a:solidFill>
          <a:ln w="12700">
            <a:solidFill>
              <a:srgbClr val="005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7432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Retrieval (DSI / GenIR)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3099816"/>
            <a:ext cx="3977640" cy="1307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Unified end-to-end retrieval
</a:t>
            </a:r>
            <a:pPr indent="0" marL="0">
              <a:buNone/>
            </a:pPr>
            <a:r>
              <a:rPr lang="en-US" sz="110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Eliminates external index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 to update; scaling problems
</a:t>
            </a:r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Sensitive to identifier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Robertson &amp; Zaragoza (2009); Lewis et al. (2020); Liu et al. (2023); Li et al. (2024); Tay et al. (2022); Asai et al. (2024)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in LLM + 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Challenges &amp; Failure Modes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41605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68680"/>
            <a:ext cx="54864" cy="115214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235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&amp; Faithfulness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716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can still fail if retriever fetches wrong evidence, or if generator ignores retrieved material. Faithfulness ≠ linguistic plausibility.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30552"/>
            <a:ext cx="41605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130552"/>
            <a:ext cx="54864" cy="1152144"/>
          </a:xfrm>
          <a:prstGeom prst="rect">
            <a:avLst/>
          </a:prstGeom>
          <a:solidFill>
            <a:srgbClr val="E67E00"/>
          </a:solidFill>
          <a:ln w="12700">
            <a:solidFill>
              <a:srgbClr val="E67E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85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359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633472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contexts don't guarantee better usage. Models underutilize information placed in the middle of long inputs (Liu et al., 2023).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392424"/>
            <a:ext cx="41605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392424"/>
            <a:ext cx="54864" cy="1152144"/>
          </a:xfrm>
          <a:prstGeom prst="rect">
            <a:avLst/>
          </a:prstGeom>
          <a:solidFill>
            <a:srgbClr val="5C7A8A"/>
          </a:solidFill>
          <a:ln w="12700">
            <a:solidFill>
              <a:srgbClr val="5C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44728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6210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&amp; Updateability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895344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memory is static at training cutoff. GenIR makes updates harder as knowledge is entangled in weights (Li et al., 2024).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36008" y="868680"/>
            <a:ext cx="41605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868680"/>
            <a:ext cx="54864" cy="1152144"/>
          </a:xfrm>
          <a:prstGeom prst="rect">
            <a:avLst/>
          </a:prstGeom>
          <a:solidFill>
            <a:srgbClr val="6D3A8A"/>
          </a:solidFill>
          <a:ln w="12700">
            <a:solidFill>
              <a:srgbClr val="6D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9235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Bias, Robustness &amp; Adversarial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1371600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inherited from model pretraining and corpus. Vulnerable to prompt injection and keyword stuffing. Grounding ≠ neutrality.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36008" y="2130552"/>
            <a:ext cx="4160520" cy="115214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130552"/>
            <a:ext cx="54864" cy="1152144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18541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4024" y="2359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Evaluation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2633472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nDCG are insufficient alone. Must also measure faithfulness, citation accuracy, cost, and task success (Wu et al., 2024).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(2023); Asai et al. (2024); Wu et al. (2024); Zhao et al. (2024); Li et al. (2024)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0" y="3657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0A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0" dirty="0"/>
          </a:p>
        </p:txBody>
      </p:sp>
      <p:sp>
        <p:nvSpPr>
          <p:cNvPr id="3" name="Shape 1"/>
          <p:cNvSpPr/>
          <p:nvPr/>
        </p:nvSpPr>
        <p:spPr>
          <a:xfrm>
            <a:off x="502920" y="192024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8288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Agentic, Hybrid &amp; Geometric 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416052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68680"/>
            <a:ext cx="54864" cy="1216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235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" y="11064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Hybrid Architectures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3807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as sparse backbone + dense semantic retrieval + LLM rerankers + RAG grounding. Routing methods decide which tool to use per query.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194560"/>
            <a:ext cx="416052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2194560"/>
            <a:ext cx="54864" cy="121615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49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Information Retrieval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7066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reason → act → iterate. Systems complete tasks, not just retrieve docs. Key for coding, legal search, scientific discovery (Zhang et al., 2024).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520440"/>
            <a:ext cx="416052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3520440"/>
            <a:ext cx="54864" cy="1216152"/>
          </a:xfrm>
          <a:prstGeom prst="rect">
            <a:avLst/>
          </a:prstGeom>
          <a:solidFill>
            <a:srgbClr val="5C7A8A"/>
          </a:solidFill>
          <a:ln w="12700">
            <a:solidFill>
              <a:srgbClr val="5C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5753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7581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Chain-Based &amp; Stepwise Retrieval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032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need evolves mid-reasoning. CoRAG enables re-query and reformulation as evidence is read (Wang et al., 2025).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36008" y="868680"/>
            <a:ext cx="416052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6008" y="868680"/>
            <a:ext cx="54864" cy="1216152"/>
          </a:xfrm>
          <a:prstGeom prst="rect">
            <a:avLst/>
          </a:prstGeom>
          <a:solidFill>
            <a:srgbClr val="6D3A8A"/>
          </a:solidFill>
          <a:ln w="12700">
            <a:solidFill>
              <a:srgbClr val="6D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92354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4024" y="110642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Graph Retrieval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64024" y="13807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flat chunking toward hierarchies, graphs, multimodal documents. Retrieve rationales, not just passages.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36008" y="2194560"/>
            <a:ext cx="4160520" cy="12161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194560"/>
            <a:ext cx="54864" cy="1216152"/>
          </a:xfrm>
          <a:prstGeom prst="rect">
            <a:avLst/>
          </a:prstGeom>
          <a:solidFill>
            <a:srgbClr val="00566E"/>
          </a:solidFill>
          <a:ln w="12700">
            <a:solidFill>
              <a:srgbClr val="005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2494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4024" y="2432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&amp; Geometric Retrieval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64024" y="27066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 treats retrieval as differentiable, end-to-end optimized with geometric stability. May close gap between index construction and model training (Wang et al., 2026).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DDE6EE"/>
          </a:solidFill>
          <a:ln w="12700">
            <a:solidFill>
              <a:srgbClr val="DDE6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0118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6B7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(2024); Wang et al. (2025); Wang et al. (2026); Li et al. (2024)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95360" y="48006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84048" y="86868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Asai et al. (2024). Self-RAG: Learning to retrieve, generate, and critique through self-reflection. ICLR 2024. arxiv.org/abs/2310.11511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84048" y="138074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Karpukhin et al. (2020). Dense Passage Retrieval for open-domain question answering. EMNLP 2020. arxiv.org/abs/2004.04906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4048" y="1892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Lewis et al. (2020). Retrieval-Augmented Generation for knowledge-intensive NLP tasks. NeurIPS 2020. arxiv.org/abs/2005.11401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24048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Li et al. (2024). From matching to generation: A survey on generative information retrieval. arXiv. arxiv.org/abs/2404.14851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2916936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Li et al. (2024). RAG or long-context LLMs? A comprehensive study and hybrid approach. EMNLP 2024. arxiv.org/abs/2407.16833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342900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Liu et al. (2023). Lost in the middle: How language models use long contexts. arXiv.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394106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Ma et al. (2023). Query rewriting for retrieval-augmented LLMs. arXiv. arxiv.org/abs/2305.14283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445312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Robertson &amp; Zaragoza (2009). The probabilistic relevance framework: BM25 and beyond. FnTIR.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00600" y="86868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Tay et al. (2022). Transformer memory as a differentiable search index. NeurIPS 2022. arxiv.org/abs/2202.06991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00600" y="13807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 Wang et al. (2025). Chain-of-retrieval augmented generation. arXiv. arxiv.org/abs/2501.14342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89280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Wang et al. (2026). Differentiable geometric indexing for end-to-end generative retrieval. arXiv. arxiv.org/abs/2603.10409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4048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Wu et al. (2024). Retrieval-augmented generation for NLP: A survey. arXiv. arxiv.org/abs/2407.13193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9169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Zhang et al. (2024). Agentic information retrieval. arXiv. arxiv.org/abs/2410.09713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4290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Zhao et al. (2024). RAG and beyond: A comprehensive survey. arXiv. arxiv.org/abs/2409.14924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39410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A9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Zhu et al. (2023). Large language models for information retrieval: A survey. arXiv. arxiv.org/abs/2308.07107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2E42"/>
          </a:solidFill>
          <a:ln w="12700">
            <a:solidFill>
              <a:srgbClr val="1A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61018"/>
          </a:solidFill>
          <a:ln w="12700">
            <a:solidFill>
              <a:srgbClr val="0610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96012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26974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BM25 still matter?  </a:t>
            </a:r>
            <a:pPr indent="0" marL="0">
              <a:buNone/>
            </a:pPr>
            <a:r>
              <a:rPr lang="en-US" sz="105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lexical matching for identifiers &amp; rare terms; cheap, interpretable, strong first-stage prior.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327355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replace RAG with long-context LLMs?  </a:t>
            </a:r>
            <a:pPr indent="0" marL="0">
              <a:buNone/>
            </a:pPr>
            <a:r>
              <a:rPr lang="en-US" sz="105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inference, 'lost in the middle', less updateable.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384962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 of Self-RAG?  </a:t>
            </a:r>
            <a:pPr indent="0" marL="0">
              <a:buNone/>
            </a:pPr>
            <a:r>
              <a:rPr lang="en-US" sz="105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to retrieve and critiques evidence — adaptive vs. fixed top-k.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" y="442569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change with Agentic IR?  </a:t>
            </a:r>
            <a:pPr indent="0" marL="0">
              <a:buNone/>
            </a:pPr>
            <a:r>
              <a:rPr lang="en-US" sz="1050" dirty="0">
                <a:solidFill>
                  <a:srgbClr val="A0B1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shifts from returning documents → reaching a desired information state.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484632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Montes  ·  Tsinghua University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and Search</dc:title>
  <dc:subject>PptxGenJS Presentation</dc:subject>
  <dc:creator>Mauricio Montes</dc:creator>
  <cp:lastModifiedBy>Mauricio Montes</cp:lastModifiedBy>
  <cp:revision>1</cp:revision>
  <dcterms:created xsi:type="dcterms:W3CDTF">2026-05-10T02:32:57Z</dcterms:created>
  <dcterms:modified xsi:type="dcterms:W3CDTF">2026-05-10T02:32:57Z</dcterms:modified>
</cp:coreProperties>
</file>